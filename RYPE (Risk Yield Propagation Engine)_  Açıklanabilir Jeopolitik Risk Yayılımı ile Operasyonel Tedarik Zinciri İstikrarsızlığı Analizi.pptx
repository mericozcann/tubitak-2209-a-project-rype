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</p:sldIdLst>
  <p:sldSz cx="18288000" cy="10287000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Roboto Mono" panose="020B060402020202020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4NJZImnhck4Ohal9XVn3b8++3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10353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9103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2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774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0b41c96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0b41c96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346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0fbb0ddd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0fbb0ddd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947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fbb0ddd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0fbb0ddd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549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990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4202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10b41c96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10b41c96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423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959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10b41c960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10b41c960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9774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204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6003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291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7500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5550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10b41c96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10b41c96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408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258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10b41c960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10b41c960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730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3600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69157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10b41c960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10b41c960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970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10b41c960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10b41c960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106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489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10b41c96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10b41c960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8559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6418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10b41c960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10b41c960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3848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712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6311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0285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12304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522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10b41c960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10b41c960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50410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2829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16587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67177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31999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6036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34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ogisticsmgmt.com/article/the_role_of_data_analytics_in_modern_logistics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600575" y="-294094"/>
            <a:ext cx="21489149" cy="10749338"/>
            <a:chOff x="0" y="0"/>
            <a:chExt cx="28652199" cy="1433245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14026149" y="23070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9" name="Google Shape;89;p1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2" name="Google Shape;92;p1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93" name="Google Shape;93;p1"/>
          <p:cNvSpPr/>
          <p:nvPr/>
        </p:nvSpPr>
        <p:spPr>
          <a:xfrm flipH="1">
            <a:off x="0" y="8618398"/>
            <a:ext cx="5173960" cy="1668602"/>
          </a:xfrm>
          <a:custGeom>
            <a:avLst/>
            <a:gdLst/>
            <a:ahLst/>
            <a:cxnLst/>
            <a:rect l="l" t="t" r="r" b="b"/>
            <a:pathLst>
              <a:path w="5173960" h="1668602" extrusionOk="0">
                <a:moveTo>
                  <a:pt x="5173960" y="0"/>
                </a:moveTo>
                <a:lnTo>
                  <a:pt x="0" y="0"/>
                </a:lnTo>
                <a:lnTo>
                  <a:pt x="0" y="1668602"/>
                </a:lnTo>
                <a:lnTo>
                  <a:pt x="5173960" y="1668602"/>
                </a:lnTo>
                <a:lnTo>
                  <a:pt x="517396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 rot="10800000" flipH="1">
            <a:off x="13114040" y="0"/>
            <a:ext cx="5173960" cy="1668602"/>
          </a:xfrm>
          <a:custGeom>
            <a:avLst/>
            <a:gdLst/>
            <a:ahLst/>
            <a:cxnLst/>
            <a:rect l="l" t="t" r="r" b="b"/>
            <a:pathLst>
              <a:path w="5173960" h="1668602" extrusionOk="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8322619" y="519123"/>
            <a:ext cx="1642912" cy="1642912"/>
          </a:xfrm>
          <a:custGeom>
            <a:avLst/>
            <a:gdLst/>
            <a:ahLst/>
            <a:cxnLst/>
            <a:rect l="l" t="t" r="r" b="b"/>
            <a:pathLst>
              <a:path w="1642912" h="1642912" extrusionOk="0">
                <a:moveTo>
                  <a:pt x="0" y="0"/>
                </a:moveTo>
                <a:lnTo>
                  <a:pt x="1642912" y="0"/>
                </a:lnTo>
                <a:lnTo>
                  <a:pt x="1642912" y="1642912"/>
                </a:lnTo>
                <a:lnTo>
                  <a:pt x="0" y="164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1493324" y="3145213"/>
            <a:ext cx="15081300" cy="2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RYPE (Risk Yield Propagation Engine): </a:t>
            </a:r>
            <a:endParaRPr sz="4001">
              <a:solidFill>
                <a:srgbClr val="004A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A Human-in-the-Loop Expert-Augmented Surrogate Framework for Interpretable Cargo Disruption Risk Prediction </a:t>
            </a:r>
            <a:endParaRPr sz="1000"/>
          </a:p>
        </p:txBody>
      </p:sp>
      <p:sp>
        <p:nvSpPr>
          <p:cNvPr id="97" name="Google Shape;97;p1"/>
          <p:cNvSpPr txBox="1"/>
          <p:nvPr/>
        </p:nvSpPr>
        <p:spPr>
          <a:xfrm>
            <a:off x="1957800" y="6058100"/>
            <a:ext cx="1437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Açıklanabilir Jeopolitik Risk Yayılımı ile Operasyonel Tedarik Zinciri İstikrarsızlığı Analizi </a:t>
            </a:r>
            <a:endParaRPr sz="100"/>
          </a:p>
        </p:txBody>
      </p:sp>
      <p:sp>
        <p:nvSpPr>
          <p:cNvPr id="98" name="Google Shape;98;p1"/>
          <p:cNvSpPr txBox="1"/>
          <p:nvPr/>
        </p:nvSpPr>
        <p:spPr>
          <a:xfrm>
            <a:off x="7688774" y="2367810"/>
            <a:ext cx="2910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Ege University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495702" y="7062072"/>
            <a:ext cx="729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Yazar: Meriç Özcan, Mirgavam Gavami, Buket Gürlek 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Ege Üniversitesi, Fen Fakültesi, İstatistik Bölümü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603424" y="8274920"/>
            <a:ext cx="15081152" cy="83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1" b="0" i="0" u="none" strike="noStrike" cap="non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TÜBİTAK 2209-A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06" name="Google Shape;106;p3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7" name="Google Shape;107;p3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8" name="Google Shape;108;p3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9" name="Google Shape;109;p3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0" name="Google Shape;110;p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1" name="Google Shape;111;p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2" name="Google Shape;112;p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3" name="Google Shape;113;p3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14" name="Google Shape;114;p3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929650" y="1550550"/>
            <a:ext cx="124287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Modern Tedarik Zincirleri Jeopolitik Olarak Kırılgan Hale Geldi</a:t>
            </a:r>
            <a:endParaRPr sz="5000"/>
          </a:p>
        </p:txBody>
      </p:sp>
      <p:sp>
        <p:nvSpPr>
          <p:cNvPr id="116" name="Google Shape;116;p3"/>
          <p:cNvSpPr txBox="1"/>
          <p:nvPr/>
        </p:nvSpPr>
        <p:spPr>
          <a:xfrm>
            <a:off x="1381650" y="4390513"/>
            <a:ext cx="15524700" cy="27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82537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Çatışmalar ve yaptırımlar operasyonel akışları etkiliyor</a:t>
            </a:r>
            <a:endParaRPr sz="39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8253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Liman yoğunluğu ve rota değişimleri artıyor</a:t>
            </a:r>
            <a:endParaRPr sz="39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8253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Lokal problemler zincirleme operasyonel kırılma yaratabiliyor</a:t>
            </a:r>
            <a:endParaRPr sz="39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8253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Mevcut disruption score sistemleri çoğunlukla “black-box”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2458950" y="8132125"/>
            <a:ext cx="133701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“Risk skoru üretiliyor; ancak neden oluştuğu açıklanamıyor.”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5"/>
          <p:cNvGrpSpPr/>
          <p:nvPr/>
        </p:nvGrpSpPr>
        <p:grpSpPr>
          <a:xfrm>
            <a:off x="-1015925" y="6"/>
            <a:ext cx="21489149" cy="10749338"/>
            <a:chOff x="0" y="0"/>
            <a:chExt cx="28652199" cy="14332450"/>
          </a:xfrm>
        </p:grpSpPr>
        <p:sp>
          <p:nvSpPr>
            <p:cNvPr id="123" name="Google Shape;123;p5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4" name="Google Shape;124;p5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5" name="Google Shape;125;p5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6" name="Google Shape;126;p5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7" name="Google Shape;127;p5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8" name="Google Shape;128;p5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9" name="Google Shape;129;p5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0" name="Google Shape;130;p5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31" name="Google Shape;131;p5"/>
          <p:cNvSpPr txBox="1"/>
          <p:nvPr/>
        </p:nvSpPr>
        <p:spPr>
          <a:xfrm>
            <a:off x="1635850" y="1807550"/>
            <a:ext cx="16185600" cy="13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rgbClr val="004AAD"/>
                </a:solidFill>
              </a:rPr>
              <a:t>Kara Kutu Risk Skorlarının Problemi</a:t>
            </a:r>
            <a:endParaRPr sz="2300" b="1">
              <a:solidFill>
                <a:srgbClr val="004AAD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“Black-box disruption score açıklanabilir mi?” </a:t>
            </a:r>
            <a:endParaRPr sz="100"/>
          </a:p>
        </p:txBody>
      </p:sp>
      <p:sp>
        <p:nvSpPr>
          <p:cNvPr id="132" name="Google Shape;132;p5"/>
          <p:cNvSpPr txBox="1"/>
          <p:nvPr/>
        </p:nvSpPr>
        <p:spPr>
          <a:xfrm>
            <a:off x="10334050" y="4297225"/>
            <a:ext cx="74874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Amaç: disruption likelihood score’u açıklamak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4 farklı veri seti birleştirildi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~650.000 kayıtlık birleşik veri tabanı oluşturuldu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XGBoost ve surrogate modeller kullanıldı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Operasyonel risk davranışı çözülmeye çalışıldı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443409" y="3974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2048700" y="7549500"/>
            <a:ext cx="14190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“İlk hedefimiz disruption score’u tahmin etmek değil, anlamaktı.”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“Skor var; fakat neden oluştuğu bilinmiyor.”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880825" y="4443600"/>
            <a:ext cx="107274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Modern disruption sistemleri latent risk skorları üretmektedir.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Ancak bu skorlar çoğu zaman açıklanabilir değildir.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Operasyonel neden-sonuç ilişkisi görülememektedir.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Müdahale stratejisi üretilememektedir.</a:t>
            </a: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e10b41c96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38" y="0"/>
            <a:ext cx="18037514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g3e0fbb0ddd2_0_1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46" name="Google Shape;146;g3e0fbb0ddd2_0_14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7" name="Google Shape;147;g3e0fbb0ddd2_0_14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8" name="Google Shape;148;g3e0fbb0ddd2_0_14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9" name="Google Shape;149;g3e0fbb0ddd2_0_14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0" name="Google Shape;150;g3e0fbb0ddd2_0_1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1" name="Google Shape;151;g3e0fbb0ddd2_0_1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2" name="Google Shape;152;g3e0fbb0ddd2_0_1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3" name="Google Shape;153;g3e0fbb0ddd2_0_14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54" name="Google Shape;154;g3e0fbb0ddd2_0_14"/>
          <p:cNvSpPr txBox="1"/>
          <p:nvPr/>
        </p:nvSpPr>
        <p:spPr>
          <a:xfrm>
            <a:off x="1651575" y="1437250"/>
            <a:ext cx="16185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Leakage Problemi ve Yapay Performans </a:t>
            </a:r>
            <a:endParaRPr sz="100"/>
          </a:p>
        </p:txBody>
      </p:sp>
      <p:sp>
        <p:nvSpPr>
          <p:cNvPr id="155" name="Google Shape;155;g3e0fbb0ddd2_0_14"/>
          <p:cNvSpPr txBox="1"/>
          <p:nvPr/>
        </p:nvSpPr>
        <p:spPr>
          <a:xfrm>
            <a:off x="1179673" y="4486150"/>
            <a:ext cx="8179200" cy="1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İlk modellerde F1 ≈ 1.00 elde edildi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Ancak disruption score modele doğrudan sızıyordu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Model hedef değişkeni öğreniyordu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Gerçek operasyonel davranış öğrenilmiyordu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56" name="Google Shape;156;g3e0fbb0ddd2_0_14"/>
          <p:cNvSpPr txBox="1"/>
          <p:nvPr/>
        </p:nvSpPr>
        <p:spPr>
          <a:xfrm>
            <a:off x="411934" y="3502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7" name="Google Shape;157;g3e0fbb0ddd2_0_14"/>
          <p:cNvSpPr txBox="1"/>
          <p:nvPr/>
        </p:nvSpPr>
        <p:spPr>
          <a:xfrm>
            <a:off x="1108875" y="7297725"/>
            <a:ext cx="83208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“Model tahmin yapmıyordu; hedefi okuyordu.”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g3e0fbb0ddd2_0_14" title="indir (1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3838" y="3077275"/>
            <a:ext cx="751522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e0fbb0ddd2_0_14"/>
          <p:cNvSpPr txBox="1"/>
          <p:nvPr/>
        </p:nvSpPr>
        <p:spPr>
          <a:xfrm>
            <a:off x="9781050" y="8205825"/>
            <a:ext cx="83208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“Leakage removal sonrası model gerçek operasyonel davranış ile test edilmiştir.”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g3e0fbb0ddd2_0_38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65" name="Google Shape;165;g3e0fbb0ddd2_0_38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6" name="Google Shape;166;g3e0fbb0ddd2_0_38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7" name="Google Shape;167;g3e0fbb0ddd2_0_38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8" name="Google Shape;168;g3e0fbb0ddd2_0_38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9" name="Google Shape;169;g3e0fbb0ddd2_0_38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0" name="Google Shape;170;g3e0fbb0ddd2_0_38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1" name="Google Shape;171;g3e0fbb0ddd2_0_38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2" name="Google Shape;172;g3e0fbb0ddd2_0_38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73" name="Google Shape;173;g3e0fbb0ddd2_0_38"/>
          <p:cNvSpPr txBox="1"/>
          <p:nvPr/>
        </p:nvSpPr>
        <p:spPr>
          <a:xfrm>
            <a:off x="1051200" y="952400"/>
            <a:ext cx="16185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Black-box Skor Operasyonel Olarak Açıklanamadı </a:t>
            </a:r>
            <a:endParaRPr sz="100"/>
          </a:p>
        </p:txBody>
      </p:sp>
      <p:sp>
        <p:nvSpPr>
          <p:cNvPr id="174" name="Google Shape;174;g3e0fbb0ddd2_0_38"/>
          <p:cNvSpPr txBox="1"/>
          <p:nvPr/>
        </p:nvSpPr>
        <p:spPr>
          <a:xfrm>
            <a:off x="859875" y="2870100"/>
            <a:ext cx="82107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Linear ve non-linear reconstruction modelleri test edildi.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Operational node yapısı latent disruption score’u açıklayamadı.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Korelasyonlar ≈ 0 seviyesinde kaldı.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R² negatif veya sıfıra yakın sonuç verdi. 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Pearson ve Spearman katsayıları da 0’a yakın sonuç verdi.</a:t>
            </a:r>
            <a:endParaRPr sz="2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200"/>
              <a:buFont typeface="Roboto Mono"/>
              <a:buChar char="●"/>
            </a:pP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g3e0fbb0ddd2_0_38"/>
          <p:cNvSpPr txBox="1"/>
          <p:nvPr/>
        </p:nvSpPr>
        <p:spPr>
          <a:xfrm>
            <a:off x="411934" y="3502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76" name="Google Shape;176;g3e0fbb0ddd2_0_38"/>
          <p:cNvSpPr txBox="1"/>
          <p:nvPr/>
        </p:nvSpPr>
        <p:spPr>
          <a:xfrm>
            <a:off x="9594825" y="4101450"/>
            <a:ext cx="7927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“Black-box skor var; ancak operasyonel karşılığı yok. ”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e0fbb0ddd2_0_38" title="indir (20).png"/>
          <p:cNvPicPr preferRelativeResize="0"/>
          <p:nvPr/>
        </p:nvPicPr>
        <p:blipFill rotWithShape="1">
          <a:blip r:embed="rId4">
            <a:alphaModFix/>
          </a:blip>
          <a:srcRect b="17505"/>
          <a:stretch/>
        </p:blipFill>
        <p:spPr>
          <a:xfrm>
            <a:off x="2341325" y="6496925"/>
            <a:ext cx="13605350" cy="36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8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83" name="Google Shape;183;p8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4" name="Google Shape;184;p8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5" name="Google Shape;185;p8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6" name="Google Shape;186;p8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7" name="Google Shape;187;p8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8" name="Google Shape;188;p8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9" name="Google Shape;189;p8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0" name="Google Shape;190;p8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91" name="Google Shape;191;p8"/>
          <p:cNvSpPr txBox="1"/>
          <p:nvPr/>
        </p:nvSpPr>
        <p:spPr>
          <a:xfrm>
            <a:off x="1001475" y="637825"/>
            <a:ext cx="16185600" cy="21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Methodological Shift: </a:t>
            </a:r>
            <a:endParaRPr sz="5900">
              <a:solidFill>
                <a:srgbClr val="004A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Prediction → Explainable Operational Intelligence </a:t>
            </a:r>
            <a:endParaRPr sz="100"/>
          </a:p>
        </p:txBody>
      </p:sp>
      <p:sp>
        <p:nvSpPr>
          <p:cNvPr id="192" name="Google Shape;192;p8"/>
          <p:cNvSpPr txBox="1"/>
          <p:nvPr/>
        </p:nvSpPr>
        <p:spPr>
          <a:xfrm>
            <a:off x="1001475" y="3510200"/>
            <a:ext cx="8436300" cy="27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Kara kutu skorun yeniden üretilmesi başarısız oldu.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Sistem yeniden tasarlandı.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Operasyonel davranış gerçek jeopolitik risk üzerinden üretildi.</a:t>
            </a:r>
            <a:endParaRPr sz="20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Amaç: açıklanabilir operasyonel istikrarsızlık dinamiklerini modellemek.</a:t>
            </a:r>
            <a:endParaRPr sz="20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200"/>
              <a:buFont typeface="Roboto Mono"/>
              <a:buChar char="●"/>
            </a:pP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752350" y="3856250"/>
            <a:ext cx="7927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“Bu noktada problem model performansı değil (skoru kopyalamak), operasyonel kırılganlığı açıklanabilirlik problemi haline geldi.”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“Eski sevkiyat veri yapısı operasyonel iskelet olarak korunurken, davranış katmanı gerçek jeopolitik risk ile yeniden üretildi.”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8" title="indir (21).png"/>
          <p:cNvPicPr preferRelativeResize="0"/>
          <p:nvPr/>
        </p:nvPicPr>
        <p:blipFill rotWithShape="1">
          <a:blip r:embed="rId4">
            <a:alphaModFix/>
          </a:blip>
          <a:srcRect l="1565" t="27313" b="18741"/>
          <a:stretch/>
        </p:blipFill>
        <p:spPr>
          <a:xfrm>
            <a:off x="4039538" y="6936675"/>
            <a:ext cx="10208926" cy="29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1001475" y="6550350"/>
            <a:ext cx="7927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9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01" name="Google Shape;201;p9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2" name="Google Shape;202;p9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3" name="Google Shape;203;p9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4" name="Google Shape;204;p9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5" name="Google Shape;205;p9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6" name="Google Shape;206;p9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7" name="Google Shape;207;p9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8" name="Google Shape;208;p9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09" name="Google Shape;209;p9"/>
          <p:cNvSpPr txBox="1"/>
          <p:nvPr/>
        </p:nvSpPr>
        <p:spPr>
          <a:xfrm>
            <a:off x="3781654" y="981350"/>
            <a:ext cx="10482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RYPE Çerçeve Mimarisi 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4319401" y="3518400"/>
            <a:ext cx="9649200" cy="3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31737" algn="just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Gerçek jeopolitik risk katmanı oluşturuldu.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737" algn="just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Operasyonel davranış nedensel olarak yeniden üretildi.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737" algn="just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Risk D1–D4 katmanlarında yayıldı.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737" algn="just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Sistemik kırılganlık ve müdahale etkileri analiz edildi.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4024050" y="7628750"/>
            <a:ext cx="10239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“RYPE yalnızca risk tahmini yapmaz; operasyonel kırılganlığın nasıl oluştuğunu ve yayıldığını modellemeye çalışır.” </a:t>
            </a: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e10b41c960_0_37" title="indir (2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3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0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22" name="Google Shape;222;p10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3" name="Google Shape;223;p10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4" name="Google Shape;224;p10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5" name="Google Shape;225;p10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6" name="Google Shape;226;p10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7" name="Google Shape;227;p10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8" name="Google Shape;228;p10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9" name="Google Shape;229;p10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30" name="Google Shape;230;p10"/>
          <p:cNvSpPr txBox="1"/>
          <p:nvPr/>
        </p:nvSpPr>
        <p:spPr>
          <a:xfrm>
            <a:off x="2326351" y="650775"/>
            <a:ext cx="13635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Gerçek Jeopolitik Risk Katmanı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349000" y="2607138"/>
            <a:ext cx="8742600" cy="24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ACLED çatışma verileri kullanıldı.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WGI yönetişim göstergeleri entegre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Yaptırım ve ticaret kısıtı verileri modele dahil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UN/LOCODE liman altyapısı kullanıldı.</a:t>
            </a:r>
            <a:endParaRPr sz="18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Tüm bileşenler birleşik jeopolitik baskı skoruna dönüştürüldü.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411934" y="3502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233" name="Google Shape;233;p10" title="indir (2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375" y="5548975"/>
            <a:ext cx="1132522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 txBox="1"/>
          <p:nvPr/>
        </p:nvSpPr>
        <p:spPr>
          <a:xfrm>
            <a:off x="9925225" y="2721175"/>
            <a:ext cx="71253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“Jeopolitik baskı, operasyonel davranışın temel tetikleyicisi olarak ele alındı.”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“Bu aşamada sistem artık latent sentetik skorlar yerine gerçek jeopolitik baskı sinyalleri ile çalışmaya başladı.” 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e10b41c960_0_47" title="indir (2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00" y="0"/>
            <a:ext cx="1724378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1"/>
          <p:cNvGrpSpPr/>
          <p:nvPr/>
        </p:nvGrpSpPr>
        <p:grpSpPr>
          <a:xfrm>
            <a:off x="-1773600" y="-231169"/>
            <a:ext cx="21489149" cy="10749338"/>
            <a:chOff x="0" y="0"/>
            <a:chExt cx="28652199" cy="14332450"/>
          </a:xfrm>
        </p:grpSpPr>
        <p:sp>
          <p:nvSpPr>
            <p:cNvPr id="245" name="Google Shape;245;p11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6" name="Google Shape;246;p11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7" name="Google Shape;247;p11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8" name="Google Shape;248;p11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9" name="Google Shape;249;p11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50" name="Google Shape;250;p11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51" name="Google Shape;251;p11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52" name="Google Shape;252;p11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53" name="Google Shape;253;p11"/>
          <p:cNvSpPr txBox="1"/>
          <p:nvPr/>
        </p:nvSpPr>
        <p:spPr>
          <a:xfrm>
            <a:off x="964800" y="565675"/>
            <a:ext cx="16358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Nedensel Operasyonel Yeniden Üretim 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859127" y="2800450"/>
            <a:ext cx="9066000" cy="2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38728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Jeopolitik baskı operasyonel davranışı tetiklemektedir.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728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Gecikme, rota değişimi ve gümrük problemleri yeniden üretildi.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728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Operasyonel davranışlar disruption oluşumuna dönüştürüldü.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728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Sistem nedensel operasyonel dinamikler üretmektedir.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411934" y="350281"/>
            <a:ext cx="193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11875675" y="3025100"/>
            <a:ext cx="4986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“Jeopolitik baskı doğrudan değil, operasyonel davranışlar üzerinden disruption üretmektedir.” </a:t>
            </a:r>
            <a:endParaRPr sz="2400"/>
          </a:p>
        </p:txBody>
      </p:sp>
      <p:pic>
        <p:nvPicPr>
          <p:cNvPr id="257" name="Google Shape;257;p11" title="indir (2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625" y="5546025"/>
            <a:ext cx="10372725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263" name="Google Shape;263;p12" title="indir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63" y="0"/>
            <a:ext cx="1772646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1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69" name="Google Shape;269;p13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0" name="Google Shape;270;p13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1" name="Google Shape;271;p13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2" name="Google Shape;272;p13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3" name="Google Shape;273;p1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4" name="Google Shape;274;p1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5" name="Google Shape;275;p1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6" name="Google Shape;276;p13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77" name="Google Shape;277;p13"/>
          <p:cNvSpPr txBox="1"/>
          <p:nvPr/>
        </p:nvSpPr>
        <p:spPr>
          <a:xfrm>
            <a:off x="587138" y="603575"/>
            <a:ext cx="17271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Çok Katmanlı Operasyonel Yayılım Yapısı </a:t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859150" y="2783000"/>
            <a:ext cx="7980900" cy="16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0936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Risk D1–D4 katmanlarında modellenmiştir.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Her katman farklı operasyonel kırılganlığı temsil etmektedir.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Operasyonel baskı ağ boyunca yayılmaktadır.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Sistem çok katmanlı propagation davranışı üretmektedir.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10554375" y="2403950"/>
            <a:ext cx="7094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“Risk tek bir skor değil; çok katmanlı operasyonel yayılım davranışıdır.”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 riskin yalnızca oluşumunu değil, ağ boyunca hangi katmanlarda yayıldığını da modellemeye çalışmaktadır.” </a:t>
            </a:r>
            <a:endParaRPr sz="2400"/>
          </a:p>
        </p:txBody>
      </p:sp>
      <p:pic>
        <p:nvPicPr>
          <p:cNvPr id="280" name="Google Shape;280;p13" title="indir (2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625" y="5374025"/>
            <a:ext cx="103727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5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86" name="Google Shape;286;p15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87" name="Google Shape;287;p15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88" name="Google Shape;288;p15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89" name="Google Shape;289;p15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90" name="Google Shape;290;p15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91" name="Google Shape;291;p15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92" name="Google Shape;292;p15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93" name="Google Shape;293;p15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94" name="Google Shape;294;p15"/>
          <p:cNvSpPr txBox="1"/>
          <p:nvPr/>
        </p:nvSpPr>
        <p:spPr>
          <a:xfrm>
            <a:off x="1572607" y="587840"/>
            <a:ext cx="15142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Sistemik Cascade Yayılımı 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1108500" y="3191875"/>
            <a:ext cx="6927000" cy="16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380936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Gerçek propagation çıktıları kullanıldı.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Sistemik kırılgan node’lar analiz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Cascade intensity hesaplandı.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Ağ boyunca risk amplifikasyonu gözlemlendi.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10853275" y="2749900"/>
            <a:ext cx="64440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“Yerel operasyonel bozulmalar ağ boyunca sistemik kırılganlığa dönüşebilmektedir.”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 yalnızca lokal risk üretmiyor; ağ boyunca sistemik kırılganlığın nasıl yayıldığını da modellemeye çalışıyor.” </a:t>
            </a:r>
            <a:endParaRPr sz="2400"/>
          </a:p>
        </p:txBody>
      </p:sp>
      <p:pic>
        <p:nvPicPr>
          <p:cNvPr id="297" name="Google Shape;297;p15" title="indir (2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625" y="5436675"/>
            <a:ext cx="103727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4" title="indir (2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450" y="0"/>
            <a:ext cx="1214908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e10b41c960_0_159" title="indir (4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63" y="152400"/>
            <a:ext cx="16971286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7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313" name="Google Shape;313;p17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4" name="Google Shape;314;p17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5" name="Google Shape;315;p17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6" name="Google Shape;316;p17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7" name="Google Shape;317;p17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8" name="Google Shape;318;p17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9" name="Google Shape;319;p17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0" name="Google Shape;320;p17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321" name="Google Shape;321;p17"/>
          <p:cNvSpPr txBox="1"/>
          <p:nvPr/>
        </p:nvSpPr>
        <p:spPr>
          <a:xfrm>
            <a:off x="1572622" y="958294"/>
            <a:ext cx="15142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Counterfactual Müdahale Analizi 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1095077" y="3257175"/>
            <a:ext cx="6171900" cy="18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3746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Riskli rota alternatif senaryo ile değiştirildi.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746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Operasyonel başarı olasılığı arttı.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746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Sistemik cascade etkisi azaldı.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746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Müdahale etkileri ölçülebilir hale getirildi.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0695975" y="3161625"/>
            <a:ext cx="65121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 yalnızca risk üretmez; müdahale senaryolarını da değerlendirebilir.”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“Sistem yalnızca risk tespiti değil, operasyonel müdahale etkisini de simüle etmektedir.” </a:t>
            </a:r>
            <a:endParaRPr sz="2400"/>
          </a:p>
        </p:txBody>
      </p:sp>
      <p:pic>
        <p:nvPicPr>
          <p:cNvPr id="324" name="Google Shape;324;p17" title="indir (3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125" y="5646850"/>
            <a:ext cx="11983800" cy="44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e10b41c960_0_164" title="indir (4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88" y="76200"/>
            <a:ext cx="17524413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6" title="indir (3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45500"/>
            <a:ext cx="18135600" cy="9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8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340" name="Google Shape;340;p18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1" name="Google Shape;341;p18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2" name="Google Shape;342;p18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3" name="Google Shape;343;p18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4" name="Google Shape;344;p18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5" name="Google Shape;345;p18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6" name="Google Shape;346;p18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7" name="Google Shape;347;p18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348" name="Google Shape;348;p18"/>
          <p:cNvSpPr txBox="1"/>
          <p:nvPr/>
        </p:nvSpPr>
        <p:spPr>
          <a:xfrm>
            <a:off x="1572622" y="958294"/>
            <a:ext cx="15142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Zamansal ve Olasılıksal Dinamikler 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1299552" y="3184550"/>
            <a:ext cx="73830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0936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Jeopolitik şok seviyesi artırılarak sistem tepkisi ölçüldü.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Disruption ve D4 son-kilometre riski yükseldi.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Başarı olasılığı zaman içinde azaldı.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Olasılıksal belirsizlik Monte Carlo ile test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11325125" y="3683000"/>
            <a:ext cx="5961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“Operasyonel istikrarsızlık statik değil; zaman içinde evrilen bir süreçtir.” </a:t>
            </a:r>
            <a:endParaRPr sz="2400"/>
          </a:p>
        </p:txBody>
      </p:sp>
      <p:pic>
        <p:nvPicPr>
          <p:cNvPr id="352" name="Google Shape;352;p18" title="indir (34).png"/>
          <p:cNvPicPr preferRelativeResize="0"/>
          <p:nvPr/>
        </p:nvPicPr>
        <p:blipFill rotWithShape="1">
          <a:blip r:embed="rId4">
            <a:alphaModFix/>
          </a:blip>
          <a:srcRect t="3390" b="-3390"/>
          <a:stretch/>
        </p:blipFill>
        <p:spPr>
          <a:xfrm>
            <a:off x="4433900" y="5910850"/>
            <a:ext cx="942022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e10b41c960_0_168" title="indir (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38" y="76200"/>
            <a:ext cx="17267728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g3e10b41c960_0_172" title="indir (5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338" y="76200"/>
            <a:ext cx="15989323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0" title="indir (3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15" y="0"/>
            <a:ext cx="1724378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e10b41c960_0_97" title="indir (3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38" y="152400"/>
            <a:ext cx="16988337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9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378" name="Google Shape;378;p19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79" name="Google Shape;379;p19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80" name="Google Shape;380;p19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81" name="Google Shape;381;p19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82" name="Google Shape;382;p19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83" name="Google Shape;383;p19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84" name="Google Shape;384;p19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85" name="Google Shape;385;p19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386" name="Google Shape;386;p19"/>
          <p:cNvSpPr txBox="1"/>
          <p:nvPr/>
        </p:nvSpPr>
        <p:spPr>
          <a:xfrm>
            <a:off x="1572594" y="664720"/>
            <a:ext cx="151428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RYPE Sistem Özeti 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881551" y="2941425"/>
            <a:ext cx="5228100" cy="2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0936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Jeopolitik risk entegrasyonu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Nedensel operasyonel yeniden üretim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D1–D4 operasyonel yayılım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Sistemik cascade analizi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Counterfactual müdahale analizi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Zamansal ve olasılıksal dinamikler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9358975" y="2705475"/>
            <a:ext cx="75816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“RYPE, açıklanabilir operasyonel risk zekâsı için birleşik bir araştırma prototipi sunmaktadır.”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/>
              <a:t>“Bu noktada RYPE artık tek bir sınıflandırma modeli değil; jeopolitik riskten operasyonel yayılıma, oradan müdahale analizine uzanan birleşik bir açıklanabilir risk çerçevesidir.” 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e10b41c960_0_109" title="indir (3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38975"/>
            <a:ext cx="18135600" cy="9009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00" name="Google Shape;400;p23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1" name="Google Shape;401;p23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2" name="Google Shape;402;p23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3" name="Google Shape;403;p23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4" name="Google Shape;404;p2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5" name="Google Shape;405;p2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6" name="Google Shape;406;p2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7" name="Google Shape;407;p23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08" name="Google Shape;408;p23"/>
          <p:cNvSpPr txBox="1"/>
          <p:nvPr/>
        </p:nvSpPr>
        <p:spPr>
          <a:xfrm>
            <a:off x="2116544" y="958294"/>
            <a:ext cx="151428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Neden Bazı Metrikler Düşük Kaldı? 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701827" y="3586688"/>
            <a:ext cx="98526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Black-box skorlar operasyonel olarak grounded olmayabilir.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Latent aggregation yapıları operasyonel davranışı temsil etmeyebilir.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RYPE açıklanabilir operasyonel instability üretmeye odaklanmaktadır.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Amaç latent skoru kopyalamak değil, operasyonel davranışı modellemektir.</a:t>
            </a:r>
            <a:endParaRPr sz="36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 txBox="1"/>
          <p:nvPr/>
        </p:nvSpPr>
        <p:spPr>
          <a:xfrm>
            <a:off x="865000" y="6180175"/>
            <a:ext cx="9217500" cy="19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“Düşük reconstruction başarımı, operasyonel yapının latent black-box skordan farklı çalıştığını göstermektedir.”</a:t>
            </a:r>
            <a:endParaRPr sz="2400">
              <a:solidFill>
                <a:schemeClr val="dk1"/>
              </a:solidFill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“Gerçek operasyonel log verileri ile propagation yapısı daha yüksek açıklayıcılık seviyesine ulaşabilir.”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12" name="Google Shape;412;p23" title="indir (37).png"/>
          <p:cNvPicPr preferRelativeResize="0"/>
          <p:nvPr/>
        </p:nvPicPr>
        <p:blipFill rotWithShape="1">
          <a:blip r:embed="rId4">
            <a:alphaModFix/>
          </a:blip>
          <a:srcRect l="2630" r="-2630"/>
          <a:stretch/>
        </p:blipFill>
        <p:spPr>
          <a:xfrm>
            <a:off x="11221575" y="2869275"/>
            <a:ext cx="6572250" cy="60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1" title="indir (3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808000"/>
            <a:ext cx="18135601" cy="867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2" title="indir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41263"/>
            <a:ext cx="18135598" cy="900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24" title="indir (4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550" y="4"/>
            <a:ext cx="1586489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30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33" name="Google Shape;433;p30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4" name="Google Shape;434;p30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5" name="Google Shape;435;p30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6" name="Google Shape;436;p30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7" name="Google Shape;437;p30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8" name="Google Shape;438;p30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9" name="Google Shape;439;p30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40" name="Google Shape;440;p30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41" name="Google Shape;441;p30"/>
          <p:cNvSpPr txBox="1"/>
          <p:nvPr/>
        </p:nvSpPr>
        <p:spPr>
          <a:xfrm>
            <a:off x="1572622" y="486419"/>
            <a:ext cx="151428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Robustness </a:t>
            </a:r>
            <a:r>
              <a:rPr lang="en-US" sz="7200" dirty="0" err="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7200" dirty="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200" dirty="0" err="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İstatistiksel</a:t>
            </a:r>
            <a:r>
              <a:rPr lang="en-US" sz="7200" dirty="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200" dirty="0" err="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Validasyon</a:t>
            </a:r>
            <a:r>
              <a:rPr lang="en-US" sz="7200" dirty="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dirty="0"/>
          </a:p>
        </p:txBody>
      </p:sp>
      <p:sp>
        <p:nvSpPr>
          <p:cNvPr id="442" name="Google Shape;442;p30"/>
          <p:cNvSpPr txBox="1"/>
          <p:nvPr/>
        </p:nvSpPr>
        <p:spPr>
          <a:xfrm>
            <a:off x="1428579" y="2366050"/>
            <a:ext cx="84021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7782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Threshold optimization ile karar eşiği belirlendi.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782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Cross-validation sonuçları performansın stabil olduğunu gösterdi.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782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Noise stress test altında model kademeli bozulma gösterdi.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782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Monte Carlo analizi belirsizlik davranışını test etti.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11718350" y="2660050"/>
            <a:ext cx="4891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“Sistem farklı koşullar altında davranışsal tutarlılık göstermektedir.” </a:t>
            </a:r>
            <a:endParaRPr sz="2400"/>
          </a:p>
        </p:txBody>
      </p:sp>
      <p:pic>
        <p:nvPicPr>
          <p:cNvPr id="444" name="Google Shape;444;p30" title="indir (4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500" y="4828925"/>
            <a:ext cx="14666998" cy="513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g3e10b41c960_0_155" title="indir (4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263" y="115500"/>
            <a:ext cx="14617476" cy="100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2"/>
          <p:cNvGrpSpPr/>
          <p:nvPr/>
        </p:nvGrpSpPr>
        <p:grpSpPr>
          <a:xfrm>
            <a:off x="-1600575" y="-123469"/>
            <a:ext cx="21489149" cy="10749338"/>
            <a:chOff x="0" y="0"/>
            <a:chExt cx="28652199" cy="14332450"/>
          </a:xfrm>
        </p:grpSpPr>
        <p:sp>
          <p:nvSpPr>
            <p:cNvPr id="455" name="Google Shape;455;p32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56" name="Google Shape;456;p32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57" name="Google Shape;457;p32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58" name="Google Shape;458;p32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59" name="Google Shape;459;p32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0" name="Google Shape;460;p32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1" name="Google Shape;461;p32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2" name="Google Shape;462;p32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63" name="Google Shape;463;p32"/>
          <p:cNvSpPr txBox="1"/>
          <p:nvPr/>
        </p:nvSpPr>
        <p:spPr>
          <a:xfrm>
            <a:off x="2700291" y="477740"/>
            <a:ext cx="12887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Temel Akademik Çıkarım </a:t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1698775" y="2495800"/>
            <a:ext cx="4561500" cy="26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RYPE şu özellikleri birleştirir: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Açıklanabilir yapı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Operasyonel yorumlanabilirlik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Müdahale odaklı analiz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Ağ temelli risk yayılımı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09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Jeopolitik risk temellendirmesi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8446650" y="2618500"/>
            <a:ext cx="8761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“Operasyonel istikrarsızlık, latent kara kutu skorlardan ziyade nedensel yayılım yapılarıyla daha anlamlı temsil edilebilir.”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“Bu çalışmanın temel sonucu, yüksek skor üretmekten çok, operasyonel riskin nasıl oluştuğunu ve yayıldığını açıklayabilmenin daha değerli olduğudur.” </a:t>
            </a:r>
            <a:endParaRPr sz="2400"/>
          </a:p>
        </p:txBody>
      </p:sp>
      <p:pic>
        <p:nvPicPr>
          <p:cNvPr id="466" name="Google Shape;466;p32" title="indir (42).png"/>
          <p:cNvPicPr preferRelativeResize="0"/>
          <p:nvPr/>
        </p:nvPicPr>
        <p:blipFill rotWithShape="1">
          <a:blip r:embed="rId4">
            <a:alphaModFix/>
          </a:blip>
          <a:srcRect l="4275" t="25218" r="4175" b="22267"/>
          <a:stretch/>
        </p:blipFill>
        <p:spPr>
          <a:xfrm>
            <a:off x="3591538" y="5671325"/>
            <a:ext cx="11104924" cy="42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72" name="Google Shape;472;p34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3" name="Google Shape;473;p34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4" name="Google Shape;474;p34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5" name="Google Shape;475;p34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6" name="Google Shape;476;p3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7" name="Google Shape;477;p3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8" name="Google Shape;478;p3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9" name="Google Shape;479;p34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80" name="Google Shape;480;p34"/>
          <p:cNvSpPr txBox="1"/>
          <p:nvPr/>
        </p:nvSpPr>
        <p:spPr>
          <a:xfrm>
            <a:off x="1350150" y="748375"/>
            <a:ext cx="15587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Limitasyonlar ve Gelecek Çalışmalar 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1724222" y="3212000"/>
            <a:ext cx="67695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Limitasyonlar</a:t>
            </a: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Sentetik operasyonel etiketler kullanıldı.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Gerçek AIS shipment verileri bulunmuyor.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ERP operasyon logları entegre edilmedi.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Propagation katsayıları uzman tabanlı üretildi.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Gerçek zamanlı veri akışı henüz yok.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 txBox="1"/>
          <p:nvPr/>
        </p:nvSpPr>
        <p:spPr>
          <a:xfrm>
            <a:off x="11167850" y="2999600"/>
            <a:ext cx="5505300" cy="30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Gelecek Çalışmalar</a:t>
            </a: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AIS entegrasyonu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ERP shipment logları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Bayesian propagation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Graph neural propagation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Gerçek zamanlı erken uyarı sistemi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Canlı liman yoğunluk analizi</a:t>
            </a:r>
            <a:endParaRPr sz="2400" b="1">
              <a:solidFill>
                <a:schemeClr val="dk1"/>
              </a:solidFill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2805000" y="7156850"/>
            <a:ext cx="12678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“RYPE, gerçek zamanlı açıklanabilir operasyonel risk zekâsına doğru genişletilebilir bir araştırma prototipi sunmaktadır.”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“Bu çalışma tam ölçekli endüstriyel ürün değil; açıklanabilir operasyonel risk zekâsı için araştırma prototipi olarak tasarlanmıştır.” 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489" name="Google Shape;489;p25" title="indir (4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1125"/>
            <a:ext cx="18288001" cy="9084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4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524" name="Google Shape;524;p43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25" name="Google Shape;525;p43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26" name="Google Shape;526;p43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27" name="Google Shape;527;p43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28" name="Google Shape;528;p4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29" name="Google Shape;529;p4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30" name="Google Shape;530;p4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31" name="Google Shape;531;p43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532" name="Google Shape;532;p43"/>
          <p:cNvGrpSpPr/>
          <p:nvPr/>
        </p:nvGrpSpPr>
        <p:grpSpPr>
          <a:xfrm>
            <a:off x="-2189865" y="3581559"/>
            <a:ext cx="8730673" cy="2834559"/>
            <a:chOff x="0" y="-76200"/>
            <a:chExt cx="2299437" cy="746551"/>
          </a:xfrm>
        </p:grpSpPr>
        <p:sp>
          <p:nvSpPr>
            <p:cNvPr id="533" name="Google Shape;533;p43"/>
            <p:cNvSpPr/>
            <p:nvPr/>
          </p:nvSpPr>
          <p:spPr>
            <a:xfrm>
              <a:off x="0" y="0"/>
              <a:ext cx="2299437" cy="670351"/>
            </a:xfrm>
            <a:custGeom>
              <a:avLst/>
              <a:gdLst/>
              <a:ahLst/>
              <a:cxnLst/>
              <a:rect l="l" t="t" r="r" b="b"/>
              <a:pathLst>
                <a:path w="2299437" h="670351" extrusionOk="0">
                  <a:moveTo>
                    <a:pt x="0" y="0"/>
                  </a:moveTo>
                  <a:lnTo>
                    <a:pt x="2299437" y="0"/>
                  </a:lnTo>
                  <a:lnTo>
                    <a:pt x="2299437" y="670351"/>
                  </a:lnTo>
                  <a:lnTo>
                    <a:pt x="0" y="670351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534" name="Google Shape;534;p43"/>
            <p:cNvSpPr txBox="1"/>
            <p:nvPr/>
          </p:nvSpPr>
          <p:spPr>
            <a:xfrm>
              <a:off x="0" y="-76200"/>
              <a:ext cx="2299437" cy="74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43"/>
          <p:cNvSpPr txBox="1"/>
          <p:nvPr/>
        </p:nvSpPr>
        <p:spPr>
          <a:xfrm>
            <a:off x="983739" y="4199953"/>
            <a:ext cx="5557069" cy="153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KAYNAKÇA</a:t>
            </a:r>
            <a:endParaRPr/>
          </a:p>
        </p:txBody>
      </p:sp>
      <p:sp>
        <p:nvSpPr>
          <p:cNvPr id="536" name="Google Shape;536;p43"/>
          <p:cNvSpPr txBox="1"/>
          <p:nvPr/>
        </p:nvSpPr>
        <p:spPr>
          <a:xfrm>
            <a:off x="8705484" y="627125"/>
            <a:ext cx="8964900" cy="9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Ivanov, D. (2020). Predicting the impacts of epidemic outbreaks on global supply chains: A simulation-based analysis on the coronavirus outbreak. Transportation Research Part E, 136, 101922.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Ivanov, D., &amp; Dolgui, A. (2021). OR-methods for coping with the ripple effect in supply chains during COVID-19 pandemic. International Journal of Production Research, 59(1), 157–168.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Tang, C. S. (2006). Perspectives in supply chain risk management. International Journal of Production Economics, 103(2), 451–488.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Christopher, M., &amp; Peck, H. (2004). Building the resilient supply chain. International Journal of Logistics Management, 15(2), 1–14.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Lundberg, S. M., &amp; Lee, S. I. (2017). A unified approach to interpreting model predictions. Advances in Neural Information Processing Systems.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Ribeiro, M. T., Singh, S., &amp; Guestrin, C. (2016). “Why should I trust you?” Explaining the predictions of any classifier. ACM SIGKDD.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Doshi-Velez, F., &amp; Kim, B. (2017). Towards a rigorous science of interpretable machine learning.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Barabási, A. L. (2016). Network Science. Cambridge University Press.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Watts, D. J., &amp; Strogatz, S. H. (1998). Collective dynamics of ‘small-world’ networks. Nature, 393(6684), 440–442.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Caldara, D., &amp; Iacoviello, M. (2022). Measuring geopolitical risk. American Economic Review.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Taleb, N. N. (2012). Antifragile: Things That Gain from Disorder. Random House.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Chopra, S., &amp; Sodhi, M. (2004). Managing risk to avoid supply-chain breakdown. MIT Sloan Management Review, 46(1), 53–61.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Sheffi, Y. (2005). The resilient enterprise: Overcoming vulnerability for competitive advantage. MIT Press.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Snyder, L. V., &amp; Shen, Z. J. M. (2019). Fundamentals of Supply Chain Theory. Wiley.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Goodfellow, I., Bengio, Y., &amp; Courville, A. (2016). Deep Learning. MIT Press.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Pearl, J. (2009). Causality: Models, reasoning, and inference. Cambridge University Press.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Murphy, K. P. (2012). Machine Learning: A Probabilistic Perspective. MIT Press.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ACLED (Armed Conflict Location &amp; Event Data Project). https://acleddata.com/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World Bank Worldwide Governance Indicators (WGI). https://info.worldbank.org/governance/wgi/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884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United Nations UN/LOCODE Database. https://unece.org/trade/uncefact/unlocode-code-list-country-and-territory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900">
              <a:uFill>
                <a:noFill/>
              </a:uFill>
              <a:latin typeface="Calibri"/>
              <a:ea typeface="Calibri"/>
              <a:cs typeface="Calibri"/>
              <a:sym typeface="Calibri"/>
              <a:hlinkClick r:id="rId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4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542" name="Google Shape;542;p44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3" name="Google Shape;543;p44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4" name="Google Shape;544;p44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5" name="Google Shape;545;p44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6" name="Google Shape;546;p4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7" name="Google Shape;547;p4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8" name="Google Shape;548;p4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49" name="Google Shape;549;p44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550" name="Google Shape;550;p44"/>
          <p:cNvSpPr/>
          <p:nvPr/>
        </p:nvSpPr>
        <p:spPr>
          <a:xfrm flipH="1">
            <a:off x="0" y="8618398"/>
            <a:ext cx="5173960" cy="1668602"/>
          </a:xfrm>
          <a:custGeom>
            <a:avLst/>
            <a:gdLst/>
            <a:ahLst/>
            <a:cxnLst/>
            <a:rect l="l" t="t" r="r" b="b"/>
            <a:pathLst>
              <a:path w="5173960" h="1668602" extrusionOk="0">
                <a:moveTo>
                  <a:pt x="5173960" y="0"/>
                </a:moveTo>
                <a:lnTo>
                  <a:pt x="0" y="0"/>
                </a:lnTo>
                <a:lnTo>
                  <a:pt x="0" y="1668602"/>
                </a:lnTo>
                <a:lnTo>
                  <a:pt x="5173960" y="1668602"/>
                </a:lnTo>
                <a:lnTo>
                  <a:pt x="517396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1" name="Google Shape;551;p44"/>
          <p:cNvSpPr/>
          <p:nvPr/>
        </p:nvSpPr>
        <p:spPr>
          <a:xfrm rot="10800000" flipH="1">
            <a:off x="13114040" y="0"/>
            <a:ext cx="5173960" cy="1668602"/>
          </a:xfrm>
          <a:custGeom>
            <a:avLst/>
            <a:gdLst/>
            <a:ahLst/>
            <a:cxnLst/>
            <a:rect l="l" t="t" r="r" b="b"/>
            <a:pathLst>
              <a:path w="5173960" h="1668602" extrusionOk="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2" name="Google Shape;552;p44"/>
          <p:cNvSpPr txBox="1"/>
          <p:nvPr/>
        </p:nvSpPr>
        <p:spPr>
          <a:xfrm>
            <a:off x="2586980" y="3403613"/>
            <a:ext cx="13113900" cy="3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48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İstatistiği bir araç olarak kullananlar ile onu bir kalkan olarak kullananlar arasındaki fark, sonuçta tek bir soruya verilen yanıtta saklıdır: Analiz bittikten sonra belirsizlik hâlâ oradaysa ne yaparsın?</a:t>
            </a:r>
            <a:r>
              <a:rPr lang="en-US" sz="4800" b="0" i="0" u="none" strike="noStrike" cap="non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5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558" name="Google Shape;558;p45"/>
            <p:cNvSpPr/>
            <p:nvPr/>
          </p:nvSpPr>
          <p:spPr>
            <a:xfrm>
              <a:off x="0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59" name="Google Shape;559;p45"/>
            <p:cNvSpPr/>
            <p:nvPr/>
          </p:nvSpPr>
          <p:spPr>
            <a:xfrm rot="10800000" flipH="1">
              <a:off x="7153525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60" name="Google Shape;560;p45"/>
            <p:cNvSpPr/>
            <p:nvPr/>
          </p:nvSpPr>
          <p:spPr>
            <a:xfrm>
              <a:off x="14319749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61" name="Google Shape;561;p45"/>
            <p:cNvSpPr/>
            <p:nvPr/>
          </p:nvSpPr>
          <p:spPr>
            <a:xfrm rot="10800000" flipH="1">
              <a:off x="21485974" y="0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62" name="Google Shape;562;p45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63" name="Google Shape;563;p45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64" name="Google Shape;564;p45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65" name="Google Shape;565;p45"/>
            <p:cNvSpPr/>
            <p:nvPr/>
          </p:nvSpPr>
          <p:spPr>
            <a:xfrm flipH="1">
              <a:off x="0" y="7166225"/>
              <a:ext cx="7166225" cy="7166225"/>
            </a:xfrm>
            <a:custGeom>
              <a:avLst/>
              <a:gdLst/>
              <a:ahLst/>
              <a:cxnLst/>
              <a:rect l="l" t="t" r="r" b="b"/>
              <a:pathLst>
                <a:path w="7166225" h="7166225" extrusionOk="0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566" name="Google Shape;566;p45"/>
          <p:cNvSpPr/>
          <p:nvPr/>
        </p:nvSpPr>
        <p:spPr>
          <a:xfrm flipH="1">
            <a:off x="0" y="8618398"/>
            <a:ext cx="5173960" cy="1668602"/>
          </a:xfrm>
          <a:custGeom>
            <a:avLst/>
            <a:gdLst/>
            <a:ahLst/>
            <a:cxnLst/>
            <a:rect l="l" t="t" r="r" b="b"/>
            <a:pathLst>
              <a:path w="5173960" h="1668602" extrusionOk="0">
                <a:moveTo>
                  <a:pt x="5173960" y="0"/>
                </a:moveTo>
                <a:lnTo>
                  <a:pt x="0" y="0"/>
                </a:lnTo>
                <a:lnTo>
                  <a:pt x="0" y="1668602"/>
                </a:lnTo>
                <a:lnTo>
                  <a:pt x="5173960" y="1668602"/>
                </a:lnTo>
                <a:lnTo>
                  <a:pt x="517396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7" name="Google Shape;567;p45"/>
          <p:cNvSpPr/>
          <p:nvPr/>
        </p:nvSpPr>
        <p:spPr>
          <a:xfrm rot="10800000" flipH="1">
            <a:off x="13114040" y="0"/>
            <a:ext cx="5173960" cy="1668602"/>
          </a:xfrm>
          <a:custGeom>
            <a:avLst/>
            <a:gdLst/>
            <a:ahLst/>
            <a:cxnLst/>
            <a:rect l="l" t="t" r="r" b="b"/>
            <a:pathLst>
              <a:path w="5173960" h="1668602" extrusionOk="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8" name="Google Shape;568;p45"/>
          <p:cNvSpPr/>
          <p:nvPr/>
        </p:nvSpPr>
        <p:spPr>
          <a:xfrm>
            <a:off x="8322544" y="1512498"/>
            <a:ext cx="1642912" cy="1642912"/>
          </a:xfrm>
          <a:custGeom>
            <a:avLst/>
            <a:gdLst/>
            <a:ahLst/>
            <a:cxnLst/>
            <a:rect l="l" t="t" r="r" b="b"/>
            <a:pathLst>
              <a:path w="1642912" h="1642912" extrusionOk="0">
                <a:moveTo>
                  <a:pt x="0" y="0"/>
                </a:moveTo>
                <a:lnTo>
                  <a:pt x="1642912" y="0"/>
                </a:lnTo>
                <a:lnTo>
                  <a:pt x="1642912" y="1642912"/>
                </a:lnTo>
                <a:lnTo>
                  <a:pt x="0" y="164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9" name="Google Shape;569;p45"/>
          <p:cNvSpPr/>
          <p:nvPr/>
        </p:nvSpPr>
        <p:spPr>
          <a:xfrm>
            <a:off x="16825449" y="8824795"/>
            <a:ext cx="867703" cy="867011"/>
          </a:xfrm>
          <a:custGeom>
            <a:avLst/>
            <a:gdLst/>
            <a:ahLst/>
            <a:cxnLst/>
            <a:rect l="l" t="t" r="r" b="b"/>
            <a:pathLst>
              <a:path w="867703" h="867011" extrusionOk="0">
                <a:moveTo>
                  <a:pt x="0" y="0"/>
                </a:moveTo>
                <a:lnTo>
                  <a:pt x="867702" y="0"/>
                </a:lnTo>
                <a:lnTo>
                  <a:pt x="867702" y="867010"/>
                </a:lnTo>
                <a:lnTo>
                  <a:pt x="0" y="86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-17177"/>
            </a:stretch>
          </a:blipFill>
          <a:ln>
            <a:noFill/>
          </a:ln>
        </p:spPr>
      </p:sp>
      <p:sp>
        <p:nvSpPr>
          <p:cNvPr id="570" name="Google Shape;570;p45"/>
          <p:cNvSpPr txBox="1"/>
          <p:nvPr/>
        </p:nvSpPr>
        <p:spPr>
          <a:xfrm>
            <a:off x="2586980" y="3687763"/>
            <a:ext cx="13114040" cy="2406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TEŞEKKÜRLER</a:t>
            </a:r>
            <a:endParaRPr/>
          </a:p>
        </p:txBody>
      </p:sp>
      <p:sp>
        <p:nvSpPr>
          <p:cNvPr id="571" name="Google Shape;571;p45"/>
          <p:cNvSpPr txBox="1"/>
          <p:nvPr/>
        </p:nvSpPr>
        <p:spPr>
          <a:xfrm>
            <a:off x="4082669" y="5903912"/>
            <a:ext cx="10122662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mericozcan.com</a:t>
            </a:r>
            <a:endParaRPr/>
          </a:p>
        </p:txBody>
      </p:sp>
      <p:sp>
        <p:nvSpPr>
          <p:cNvPr id="572" name="Google Shape;572;p45"/>
          <p:cNvSpPr txBox="1"/>
          <p:nvPr/>
        </p:nvSpPr>
        <p:spPr>
          <a:xfrm>
            <a:off x="7688749" y="3374485"/>
            <a:ext cx="2910501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Ege University</a:t>
            </a:r>
            <a:endParaRPr/>
          </a:p>
        </p:txBody>
      </p:sp>
      <p:sp>
        <p:nvSpPr>
          <p:cNvPr id="573" name="Google Shape;573;p45"/>
          <p:cNvSpPr txBox="1"/>
          <p:nvPr/>
        </p:nvSpPr>
        <p:spPr>
          <a:xfrm>
            <a:off x="8871350" y="8815500"/>
            <a:ext cx="775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linkedin.com/in/meriç-özcan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1556</Words>
  <Application>Microsoft Office PowerPoint</Application>
  <PresentationFormat>Özel</PresentationFormat>
  <Paragraphs>185</Paragraphs>
  <Slides>39</Slides>
  <Notes>39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39</vt:i4>
      </vt:variant>
    </vt:vector>
  </HeadingPairs>
  <TitlesOfParts>
    <vt:vector size="43" baseType="lpstr">
      <vt:lpstr>Calibri</vt:lpstr>
      <vt:lpstr>Roboto Mono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Microsoft hesabı</cp:lastModifiedBy>
  <cp:revision>1</cp:revision>
  <dcterms:created xsi:type="dcterms:W3CDTF">2006-08-16T00:00:00Z</dcterms:created>
  <dcterms:modified xsi:type="dcterms:W3CDTF">2026-05-12T06:51:52Z</dcterms:modified>
</cp:coreProperties>
</file>