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10287000" cx="18288000"/>
  <p:notesSz cx="6858000" cy="9144000"/>
  <p:embeddedFontLs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j+FVEA368AEBrbvLEpkpUsd0b7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Mono-bold.fntdata"/><Relationship Id="rId45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Mono-boldItalic.fntdata"/><Relationship Id="rId47" Type="http://schemas.openxmlformats.org/officeDocument/2006/relationships/font" Target="fonts/RobotoMono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10b41c96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10b41c9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e0fbb0ddd2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e0fbb0dd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0fbb0ddd2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0fbb0ddd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10b41c960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10b41c96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10b41c960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e10b41c96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10b41c960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10b41c96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e10b41c960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e10b41c960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e10b41c960_0_1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e10b41c96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10b41c960_0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10b41c960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e10b41c960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e10b41c96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e10b41c960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e10b41c96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e10b41c960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e10b41c96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hyperlink" Target="https://www.logisticsmgmt.com/article/the_role_of_data_analytics_in_modern_logistic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1600575" y="-294094"/>
            <a:ext cx="21489149" cy="10749338"/>
            <a:chOff x="0" y="0"/>
            <a:chExt cx="28652199" cy="14332450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6" name="Google Shape;86;p1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p1"/>
            <p:cNvSpPr/>
            <p:nvPr/>
          </p:nvSpPr>
          <p:spPr>
            <a:xfrm>
              <a:off x="14026149" y="23070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8" name="Google Shape;88;p1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9" name="Google Shape;89;p1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0" name="Google Shape;90;p1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1" name="Google Shape;91;p1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2" name="Google Shape;92;p1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3" name="Google Shape;93;p1"/>
          <p:cNvSpPr/>
          <p:nvPr/>
        </p:nvSpPr>
        <p:spPr>
          <a:xfrm flipH="1">
            <a:off x="0" y="8618398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"/>
          <p:cNvSpPr/>
          <p:nvPr/>
        </p:nvSpPr>
        <p:spPr>
          <a:xfrm flipH="1" rot="10800000">
            <a:off x="13114040" y="0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"/>
          <p:cNvSpPr/>
          <p:nvPr/>
        </p:nvSpPr>
        <p:spPr>
          <a:xfrm>
            <a:off x="8322619" y="519123"/>
            <a:ext cx="1642912" cy="1642912"/>
          </a:xfrm>
          <a:custGeom>
            <a:rect b="b" l="l" r="r" t="t"/>
            <a:pathLst>
              <a:path extrusionOk="0" h="1642912" w="1642912">
                <a:moveTo>
                  <a:pt x="0" y="0"/>
                </a:moveTo>
                <a:lnTo>
                  <a:pt x="1642912" y="0"/>
                </a:lnTo>
                <a:lnTo>
                  <a:pt x="1642912" y="1642912"/>
                </a:lnTo>
                <a:lnTo>
                  <a:pt x="0" y="164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" name="Google Shape;96;p1"/>
          <p:cNvSpPr txBox="1"/>
          <p:nvPr/>
        </p:nvSpPr>
        <p:spPr>
          <a:xfrm>
            <a:off x="1493324" y="3145213"/>
            <a:ext cx="150813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(Risk Yield Propagation Engine): </a:t>
            </a:r>
            <a:endParaRPr sz="4001">
              <a:solidFill>
                <a:srgbClr val="004A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1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A Human-in-the-Loop Expert-Augmented Surrogate Framework for Interpretable Cargo Disruption Risk Prediction </a:t>
            </a:r>
            <a:endParaRPr sz="1000"/>
          </a:p>
        </p:txBody>
      </p:sp>
      <p:sp>
        <p:nvSpPr>
          <p:cNvPr id="97" name="Google Shape;97;p1"/>
          <p:cNvSpPr txBox="1"/>
          <p:nvPr/>
        </p:nvSpPr>
        <p:spPr>
          <a:xfrm>
            <a:off x="1957800" y="6058100"/>
            <a:ext cx="14372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Açıklanabilir Jeopolitik Risk Yayılımı ile Operasyonel Tedarik Zinciri İstikrarsızlığı Analizi </a:t>
            </a:r>
            <a:endParaRPr sz="100"/>
          </a:p>
        </p:txBody>
      </p:sp>
      <p:sp>
        <p:nvSpPr>
          <p:cNvPr id="98" name="Google Shape;98;p1"/>
          <p:cNvSpPr txBox="1"/>
          <p:nvPr/>
        </p:nvSpPr>
        <p:spPr>
          <a:xfrm>
            <a:off x="7688774" y="2367810"/>
            <a:ext cx="29106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Ege University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5495702" y="7062072"/>
            <a:ext cx="72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Yazar: Meriç Özcan, Mirgavam Gavami, Buket Gürlek 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Ege Üniversitesi, Fen Fakültesi, İstatistik Bölümü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1603424" y="8274920"/>
            <a:ext cx="15081152" cy="831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1" u="none" cap="none" strike="noStrik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TÜBİTAK 2209-A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06" name="Google Shape;106;p3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7" name="Google Shape;107;p3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8" name="Google Shape;108;p3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9" name="Google Shape;109;p3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0" name="Google Shape;110;p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1" name="Google Shape;111;p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2" name="Google Shape;112;p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3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4" name="Google Shape;114;p3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2929650" y="1550550"/>
            <a:ext cx="12428700" cy="19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Modern Tedarik Zincirleri Jeopolitik Olarak Kırılgan Hale Geldi</a:t>
            </a:r>
            <a:endParaRPr sz="5000"/>
          </a:p>
        </p:txBody>
      </p:sp>
      <p:sp>
        <p:nvSpPr>
          <p:cNvPr id="116" name="Google Shape;116;p3"/>
          <p:cNvSpPr txBox="1"/>
          <p:nvPr/>
        </p:nvSpPr>
        <p:spPr>
          <a:xfrm>
            <a:off x="1381650" y="4390513"/>
            <a:ext cx="15524700" cy="27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8253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Çatışmalar ve yaptırımlar operasyonel akışları etkiliyor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indent="-482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Liman yoğunluğu ve rota değişimleri artıyor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indent="-482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Lokal problemler zincirleme operasyonel kırılma yaratabiliyor</a:t>
            </a:r>
            <a:endParaRPr sz="3999">
              <a:latin typeface="Calibri"/>
              <a:ea typeface="Calibri"/>
              <a:cs typeface="Calibri"/>
              <a:sym typeface="Calibri"/>
            </a:endParaRPr>
          </a:p>
          <a:p>
            <a:pPr indent="-4825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99"/>
              <a:buFont typeface="Calibri"/>
              <a:buChar char="●"/>
            </a:pPr>
            <a:r>
              <a:rPr lang="en-US" sz="3999">
                <a:latin typeface="Calibri"/>
                <a:ea typeface="Calibri"/>
                <a:cs typeface="Calibri"/>
                <a:sym typeface="Calibri"/>
              </a:rPr>
              <a:t>Mevcut disruption score sistemleri çoğunlukla “black-box”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458950" y="8132125"/>
            <a:ext cx="133701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“Risk skoru üretiliyor; ancak neden oluştuğu açıklanamıyor.”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5"/>
          <p:cNvGrpSpPr/>
          <p:nvPr/>
        </p:nvGrpSpPr>
        <p:grpSpPr>
          <a:xfrm>
            <a:off x="-1015925" y="6"/>
            <a:ext cx="21489149" cy="10749338"/>
            <a:chOff x="0" y="0"/>
            <a:chExt cx="28652199" cy="14332450"/>
          </a:xfrm>
        </p:grpSpPr>
        <p:sp>
          <p:nvSpPr>
            <p:cNvPr id="123" name="Google Shape;123;p5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4" name="Google Shape;124;p5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5" name="Google Shape;125;p5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6" name="Google Shape;126;p5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7" name="Google Shape;127;p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8" name="Google Shape;128;p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9" name="Google Shape;129;p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0" name="Google Shape;130;p5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1" name="Google Shape;131;p5"/>
          <p:cNvSpPr txBox="1"/>
          <p:nvPr/>
        </p:nvSpPr>
        <p:spPr>
          <a:xfrm>
            <a:off x="1635850" y="1807550"/>
            <a:ext cx="16185600" cy="13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>
                <a:solidFill>
                  <a:srgbClr val="004AAD"/>
                </a:solidFill>
              </a:rPr>
              <a:t>Kara Kutu Risk Skorlarının Problemi</a:t>
            </a:r>
            <a:endParaRPr b="1" sz="2300">
              <a:solidFill>
                <a:srgbClr val="004AAD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“Black-box disruption score açıklanabilir mi?” </a:t>
            </a:r>
            <a:endParaRPr sz="100"/>
          </a:p>
        </p:txBody>
      </p:sp>
      <p:sp>
        <p:nvSpPr>
          <p:cNvPr id="132" name="Google Shape;132;p5"/>
          <p:cNvSpPr txBox="1"/>
          <p:nvPr/>
        </p:nvSpPr>
        <p:spPr>
          <a:xfrm>
            <a:off x="10334050" y="4297225"/>
            <a:ext cx="7487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Amaç: disruption likelihood score’u açıklamak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4 farklı veri seti birleştirildi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~650.000 kayıtlık birleşik veri tabanı oluşturuldu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XGBoost ve surrogate modeller kullanıldı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Operasyonel risk davranışı çözülmeye çalışıldı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443409" y="3974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2048700" y="7549500"/>
            <a:ext cx="14190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“İlk hedefimiz disruption score’u tahmin etmek değil, anlamaktı.”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“Skor var; fakat neden oluştuğu bilinmiyor.” 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880825" y="4443600"/>
            <a:ext cx="107274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Modern disruption sistemleri latent risk skorları üretmektedir.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Ancak bu skorlar çoğu zaman açıklanabilir değildir.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Operasyonel neden-sonuç ilişkisi görülememektedir.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Müdahale stratejisi üretilememektedir.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e10b41c96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238" y="0"/>
            <a:ext cx="18037514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g3e0fbb0ddd2_0_1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46" name="Google Shape;146;g3e0fbb0ddd2_0_14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7" name="Google Shape;147;g3e0fbb0ddd2_0_14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8" name="Google Shape;148;g3e0fbb0ddd2_0_14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9" name="Google Shape;149;g3e0fbb0ddd2_0_14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g3e0fbb0ddd2_0_1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1" name="Google Shape;151;g3e0fbb0ddd2_0_1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2" name="Google Shape;152;g3e0fbb0ddd2_0_1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3" name="Google Shape;153;g3e0fbb0ddd2_0_14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54" name="Google Shape;154;g3e0fbb0ddd2_0_14"/>
          <p:cNvSpPr txBox="1"/>
          <p:nvPr/>
        </p:nvSpPr>
        <p:spPr>
          <a:xfrm>
            <a:off x="1651575" y="1437250"/>
            <a:ext cx="16185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Leakage Problemi ve Yapay Performans </a:t>
            </a:r>
            <a:endParaRPr sz="100"/>
          </a:p>
        </p:txBody>
      </p:sp>
      <p:sp>
        <p:nvSpPr>
          <p:cNvPr id="155" name="Google Shape;155;g3e0fbb0ddd2_0_14"/>
          <p:cNvSpPr txBox="1"/>
          <p:nvPr/>
        </p:nvSpPr>
        <p:spPr>
          <a:xfrm>
            <a:off x="1179673" y="4486150"/>
            <a:ext cx="8179200" cy="18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İlk modellerde F1 ≈ 1.00 elde edildi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Ancak disruption score modele doğrudan sızıyordu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Model hedef değişkeni öğreniyordu</a:t>
            </a:r>
            <a:endParaRPr sz="2700">
              <a:solidFill>
                <a:schemeClr val="dk1"/>
              </a:solidFill>
            </a:endParaRPr>
          </a:p>
          <a:p>
            <a:pPr indent="-4000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</a:pPr>
            <a:r>
              <a:rPr lang="en-US" sz="2700">
                <a:solidFill>
                  <a:schemeClr val="dk1"/>
                </a:solidFill>
              </a:rPr>
              <a:t>Gerçek operasyonel davranış öğrenilmiyordu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56" name="Google Shape;156;g3e0fbb0ddd2_0_14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57" name="Google Shape;157;g3e0fbb0ddd2_0_14"/>
          <p:cNvSpPr txBox="1"/>
          <p:nvPr/>
        </p:nvSpPr>
        <p:spPr>
          <a:xfrm>
            <a:off x="1108875" y="7297725"/>
            <a:ext cx="8320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“Model tahmin yapmıyordu; hedefi okuyordu.”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g3e0fbb0ddd2_0_14" title="indir (1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83838" y="3077275"/>
            <a:ext cx="7515225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e0fbb0ddd2_0_14"/>
          <p:cNvSpPr txBox="1"/>
          <p:nvPr/>
        </p:nvSpPr>
        <p:spPr>
          <a:xfrm>
            <a:off x="9781050" y="8205825"/>
            <a:ext cx="83208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“Leakage removal sonrası model gerçek operasyonel davranış ile test edilmiştir.”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g3e0fbb0ddd2_0_3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65" name="Google Shape;165;g3e0fbb0ddd2_0_38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6" name="Google Shape;166;g3e0fbb0ddd2_0_38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7" name="Google Shape;167;g3e0fbb0ddd2_0_38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8" name="Google Shape;168;g3e0fbb0ddd2_0_38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69" name="Google Shape;169;g3e0fbb0ddd2_0_3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0" name="Google Shape;170;g3e0fbb0ddd2_0_3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1" name="Google Shape;171;g3e0fbb0ddd2_0_3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72" name="Google Shape;172;g3e0fbb0ddd2_0_38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10000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3" name="Google Shape;173;g3e0fbb0ddd2_0_38"/>
          <p:cNvSpPr txBox="1"/>
          <p:nvPr/>
        </p:nvSpPr>
        <p:spPr>
          <a:xfrm>
            <a:off x="1051200" y="952400"/>
            <a:ext cx="161856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Black-box Skor Operasyonel Olarak Açıklanamadı </a:t>
            </a:r>
            <a:endParaRPr sz="100"/>
          </a:p>
        </p:txBody>
      </p:sp>
      <p:sp>
        <p:nvSpPr>
          <p:cNvPr id="174" name="Google Shape;174;g3e0fbb0ddd2_0_38"/>
          <p:cNvSpPr txBox="1"/>
          <p:nvPr/>
        </p:nvSpPr>
        <p:spPr>
          <a:xfrm>
            <a:off x="859875" y="2870100"/>
            <a:ext cx="82107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Linear ve non-linear reconstruction modelleri test edildi.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Operational node yapısı latent disruption score’u açıklayamadı.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Korelasyonlar ≈ 0 seviyesinde kaldı.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R² negatif veya sıfıra yakın sonuç verdi. 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Pearson ve Spearman katsayıları da 0’a yakın sonuç verdi.</a:t>
            </a:r>
            <a:endParaRPr sz="2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200"/>
              <a:buFont typeface="Roboto Mono"/>
              <a:buChar char="●"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g3e0fbb0ddd2_0_38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76" name="Google Shape;176;g3e0fbb0ddd2_0_38"/>
          <p:cNvSpPr txBox="1"/>
          <p:nvPr/>
        </p:nvSpPr>
        <p:spPr>
          <a:xfrm>
            <a:off x="9594825" y="41014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Black-box skor var; ancak operasyonel karşılığı yok.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3e0fbb0ddd2_0_38" title="indir (20).png"/>
          <p:cNvPicPr preferRelativeResize="0"/>
          <p:nvPr/>
        </p:nvPicPr>
        <p:blipFill rotWithShape="1">
          <a:blip r:embed="rId4">
            <a:alphaModFix/>
          </a:blip>
          <a:srcRect b="17505" l="0" r="0" t="0"/>
          <a:stretch/>
        </p:blipFill>
        <p:spPr>
          <a:xfrm>
            <a:off x="2341325" y="6496925"/>
            <a:ext cx="13605350" cy="36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183" name="Google Shape;183;p8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4" name="Google Shape;184;p8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5" name="Google Shape;185;p8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6" name="Google Shape;186;p8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7" name="Google Shape;187;p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8" name="Google Shape;188;p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89" name="Google Shape;189;p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0" name="Google Shape;190;p8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1" name="Google Shape;191;p8"/>
          <p:cNvSpPr txBox="1"/>
          <p:nvPr/>
        </p:nvSpPr>
        <p:spPr>
          <a:xfrm>
            <a:off x="1001475" y="637825"/>
            <a:ext cx="16185600" cy="21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Methodological Shift: </a:t>
            </a:r>
            <a:endParaRPr sz="5900">
              <a:solidFill>
                <a:srgbClr val="004AA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Prediction → Explainable Operational Intelligence </a:t>
            </a:r>
            <a:endParaRPr sz="100"/>
          </a:p>
        </p:txBody>
      </p:sp>
      <p:sp>
        <p:nvSpPr>
          <p:cNvPr id="192" name="Google Shape;192;p8"/>
          <p:cNvSpPr txBox="1"/>
          <p:nvPr/>
        </p:nvSpPr>
        <p:spPr>
          <a:xfrm>
            <a:off x="1001475" y="3510200"/>
            <a:ext cx="84363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Kara kutu skorun yeniden üretilmesi başarısız oldu.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Sistem yeniden tasarlandı.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Operasyonel davranış gerçek jeopolitik risk üzerinden üretildi.</a:t>
            </a:r>
            <a:endParaRPr sz="20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2000">
                <a:solidFill>
                  <a:schemeClr val="dk1"/>
                </a:solidFill>
              </a:rPr>
              <a:t>Amaç: açıklanabilir operasyonel istikrarsızlık dinamiklerini modellemek.</a:t>
            </a:r>
            <a:endParaRPr sz="20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8038"/>
              </a:buClr>
              <a:buSzPts val="1200"/>
              <a:buFont typeface="Roboto Mono"/>
              <a:buChar char="●"/>
            </a:pPr>
            <a:r>
              <a:t/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9752350" y="38562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 noktada problem model performansı değil (skoru kopyalamak), operasyonel kırılganlığı açıklanabilirlik problemi haline geldi.”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“Eski sevkiyat veri yapısı operasyonel iskelet olarak korunurken, davranış katmanı gerçek jeopolitik risk ile yeniden üretildi.”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 title="indir (21).png"/>
          <p:cNvPicPr preferRelativeResize="0"/>
          <p:nvPr/>
        </p:nvPicPr>
        <p:blipFill rotWithShape="1">
          <a:blip r:embed="rId4">
            <a:alphaModFix/>
          </a:blip>
          <a:srcRect b="18741" l="1565" r="0" t="27313"/>
          <a:stretch/>
        </p:blipFill>
        <p:spPr>
          <a:xfrm>
            <a:off x="4039538" y="6936675"/>
            <a:ext cx="10208926" cy="297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 txBox="1"/>
          <p:nvPr/>
        </p:nvSpPr>
        <p:spPr>
          <a:xfrm>
            <a:off x="1001475" y="6550350"/>
            <a:ext cx="79275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9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01" name="Google Shape;201;p9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2" name="Google Shape;202;p9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3" name="Google Shape;203;p9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4" name="Google Shape;204;p9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5" name="Google Shape;205;p9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6" name="Google Shape;206;p9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7" name="Google Shape;207;p9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8" name="Google Shape;208;p9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09" name="Google Shape;209;p9"/>
          <p:cNvSpPr txBox="1"/>
          <p:nvPr/>
        </p:nvSpPr>
        <p:spPr>
          <a:xfrm>
            <a:off x="3781654" y="981350"/>
            <a:ext cx="10482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Çerçeve Mimarisi 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4319401" y="3518400"/>
            <a:ext cx="9649200" cy="3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737" lvl="0" marL="45720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Gerçek jeopolitik risk katmanı oluşturuldu.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indent="-431737" lvl="0" marL="45720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Operasyonel davranış nedensel olarak yeniden üretildi.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indent="-431737" lvl="0" marL="45720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Risk D1–D4 katmanlarında yayıldı.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indent="-431737" lvl="0" marL="45720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SzPts val="3199"/>
              <a:buFont typeface="Calibri"/>
              <a:buChar char="●"/>
            </a:pPr>
            <a:r>
              <a:rPr lang="en-US" sz="3199">
                <a:latin typeface="Calibri"/>
                <a:ea typeface="Calibri"/>
                <a:cs typeface="Calibri"/>
                <a:sym typeface="Calibri"/>
              </a:rPr>
              <a:t>Sistemik kırılganlık ve müdahale etkileri analiz edildi.</a:t>
            </a:r>
            <a:endParaRPr sz="3199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024050" y="7628750"/>
            <a:ext cx="10239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“RYPE yalnızca risk tahmini yapmaz; operasyonel kırılganlığın nasıl oluştuğunu ve yayıldığını modellemeye çalışır.” </a:t>
            </a:r>
            <a:endParaRPr sz="2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g3e10b41c960_0_37" title="indir (2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31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10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22" name="Google Shape;222;p10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3" name="Google Shape;223;p10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4" name="Google Shape;224;p10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5" name="Google Shape;225;p10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6" name="Google Shape;226;p10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7" name="Google Shape;227;p10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8" name="Google Shape;228;p10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29" name="Google Shape;229;p10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30" name="Google Shape;230;p10"/>
          <p:cNvSpPr txBox="1"/>
          <p:nvPr/>
        </p:nvSpPr>
        <p:spPr>
          <a:xfrm>
            <a:off x="2326351" y="650775"/>
            <a:ext cx="136353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Gerçek Jeopolitik Risk Katmanı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349000" y="2607138"/>
            <a:ext cx="8742600" cy="24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ACLED çatışma verileri kullanıldı.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WGI yönetişim göstergeleri entegre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Yaptırım ve ticaret kısıtı verileri modele dahil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UN/LOCODE liman altyapısı kullanıldı.</a:t>
            </a:r>
            <a:endParaRPr sz="18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Tüm bileşenler birleşik jeopolitik baskı skoruna dönüştürüldü.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411934" y="350281"/>
            <a:ext cx="1939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233" name="Google Shape;233;p10" title="indir (2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1375" y="5548975"/>
            <a:ext cx="11325225" cy="41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0"/>
          <p:cNvSpPr txBox="1"/>
          <p:nvPr/>
        </p:nvSpPr>
        <p:spPr>
          <a:xfrm>
            <a:off x="9925225" y="2721175"/>
            <a:ext cx="7125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“Jeopolitik baskı, operasyonel davranışın temel tetikleyicisi olarak ele alındı.”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aşamada sistem artık latent sentetik skorlar yerine gerçek jeopolitik baskı sinyalleri ile çalışmaya başladı.” </a:t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e10b41c960_0_47" title="indir (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00" y="0"/>
            <a:ext cx="1724378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11"/>
          <p:cNvGrpSpPr/>
          <p:nvPr/>
        </p:nvGrpSpPr>
        <p:grpSpPr>
          <a:xfrm>
            <a:off x="-1773600" y="-231169"/>
            <a:ext cx="21489149" cy="10749338"/>
            <a:chOff x="0" y="0"/>
            <a:chExt cx="28652199" cy="14332450"/>
          </a:xfrm>
        </p:grpSpPr>
        <p:sp>
          <p:nvSpPr>
            <p:cNvPr id="245" name="Google Shape;245;p11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6" name="Google Shape;246;p11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7" name="Google Shape;247;p11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8" name="Google Shape;248;p11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9" name="Google Shape;249;p11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0" name="Google Shape;250;p11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1" name="Google Shape;251;p11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52" name="Google Shape;252;p11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53" name="Google Shape;253;p11"/>
          <p:cNvSpPr txBox="1"/>
          <p:nvPr/>
        </p:nvSpPr>
        <p:spPr>
          <a:xfrm>
            <a:off x="964800" y="565675"/>
            <a:ext cx="16358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Nedensel Operasyonel Yeniden Üretim 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859127" y="2800450"/>
            <a:ext cx="9066000" cy="20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728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Jeopolitik baskı operasyonel davranışı tetiklemektedir.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indent="-38728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Gecikme, rota değişimi ve gümrük problemleri yeniden üretildi.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indent="-38728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Operasyonel davranışlar disruption oluşumuna dönüştürüldü.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  <a:p>
            <a:pPr indent="-387286" lvl="1" marL="9144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499"/>
              <a:buChar char="•"/>
            </a:pPr>
            <a:r>
              <a:rPr lang="en-US" sz="2499">
                <a:latin typeface="Calibri"/>
                <a:ea typeface="Calibri"/>
                <a:cs typeface="Calibri"/>
                <a:sym typeface="Calibri"/>
              </a:rPr>
              <a:t>Sistem nedensel operasyonel dinamikler üretmektedir.</a:t>
            </a:r>
            <a:endParaRPr sz="24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 txBox="1"/>
          <p:nvPr/>
        </p:nvSpPr>
        <p:spPr>
          <a:xfrm>
            <a:off x="411934" y="350281"/>
            <a:ext cx="193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 txBox="1"/>
          <p:nvPr/>
        </p:nvSpPr>
        <p:spPr>
          <a:xfrm>
            <a:off x="11875675" y="3025100"/>
            <a:ext cx="4986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“Jeopolitik baskı doğrudan değil, operasyonel davranışlar üzerinden disruption üretmektedir.” </a:t>
            </a:r>
            <a:endParaRPr sz="2400"/>
          </a:p>
        </p:txBody>
      </p:sp>
      <p:pic>
        <p:nvPicPr>
          <p:cNvPr id="257" name="Google Shape;257;p11" title="indir (2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546025"/>
            <a:ext cx="10372725" cy="447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263" name="Google Shape;263;p12" title="indir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763" y="0"/>
            <a:ext cx="1772646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1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69" name="Google Shape;269;p13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0" name="Google Shape;270;p13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1" name="Google Shape;271;p13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2" name="Google Shape;272;p13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3" name="Google Shape;273;p1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4" name="Google Shape;274;p1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5" name="Google Shape;275;p1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76" name="Google Shape;276;p13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77" name="Google Shape;277;p13"/>
          <p:cNvSpPr txBox="1"/>
          <p:nvPr/>
        </p:nvSpPr>
        <p:spPr>
          <a:xfrm>
            <a:off x="587138" y="603575"/>
            <a:ext cx="17271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Çok Katmanlı Operasyonel Yayılım Yapısı 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859150" y="2783000"/>
            <a:ext cx="79809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Risk D1–D4 katmanlarında modellenmiştir.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Her katman farklı operasyonel kırılganlığı temsil etmektedir.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Operasyonel baskı ağ boyunca yayılmaktadır.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 çok katmanlı propagation davranışı üretmektedir.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10554375" y="2403950"/>
            <a:ext cx="70941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“Risk tek bir skor değil; çok katmanlı operasyonel yayılım davranışıdır.”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riskin yalnızca oluşumunu değil, ağ boyunca hangi katmanlarda yayıldığını da modellemeye çalışmaktadır.” </a:t>
            </a:r>
            <a:endParaRPr sz="2400"/>
          </a:p>
        </p:txBody>
      </p:sp>
      <p:pic>
        <p:nvPicPr>
          <p:cNvPr id="280" name="Google Shape;280;p13" title="indir (2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374025"/>
            <a:ext cx="1037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" name="Google Shape;285;p15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286" name="Google Shape;286;p15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7" name="Google Shape;287;p15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8" name="Google Shape;288;p15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89" name="Google Shape;289;p15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0" name="Google Shape;290;p1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1" name="Google Shape;291;p1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2" name="Google Shape;292;p1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93" name="Google Shape;293;p15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94" name="Google Shape;294;p15"/>
          <p:cNvSpPr txBox="1"/>
          <p:nvPr/>
        </p:nvSpPr>
        <p:spPr>
          <a:xfrm>
            <a:off x="1572607" y="587840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Sistemik Cascade Yayılımı </a:t>
            </a:r>
            <a:endParaRPr/>
          </a:p>
        </p:txBody>
      </p:sp>
      <p:sp>
        <p:nvSpPr>
          <p:cNvPr id="295" name="Google Shape;295;p15"/>
          <p:cNvSpPr txBox="1"/>
          <p:nvPr/>
        </p:nvSpPr>
        <p:spPr>
          <a:xfrm>
            <a:off x="1108500" y="3191875"/>
            <a:ext cx="69270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Gerçek propagation çıktıları kullanıldı.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Sistemik kırılgan node’lar analiz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Cascade intensity hesaplandı.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•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Ağ boyunca risk amplifikasyonu gözlemlendi.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10853275" y="2749900"/>
            <a:ext cx="6444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“Yerel operasyonel bozulmalar ağ boyunca sistemik kırılganlığa dönüşebilmektedir.”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yalnızca lokal risk üretmiyor; ağ boyunca sistemik kırılganlığın nasıl yayıldığını da modellemeye çalışıyor.” </a:t>
            </a:r>
            <a:endParaRPr sz="2400"/>
          </a:p>
        </p:txBody>
      </p:sp>
      <p:pic>
        <p:nvPicPr>
          <p:cNvPr id="297" name="Google Shape;297;p15" title="indir (2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7625" y="5436675"/>
            <a:ext cx="10372725" cy="46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14" title="indir (2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9450" y="0"/>
            <a:ext cx="12149087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e10b41c960_0_159" title="indir (4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363" y="152400"/>
            <a:ext cx="16971286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7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13" name="Google Shape;313;p17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4" name="Google Shape;314;p17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5" name="Google Shape;315;p17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6" name="Google Shape;316;p17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7" name="Google Shape;317;p17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8" name="Google Shape;318;p17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19" name="Google Shape;319;p17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20" name="Google Shape;320;p17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21" name="Google Shape;321;p17"/>
          <p:cNvSpPr txBox="1"/>
          <p:nvPr/>
        </p:nvSpPr>
        <p:spPr>
          <a:xfrm>
            <a:off x="1572622" y="958294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Counterfactual Müdahale Analizi 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1095077" y="3257175"/>
            <a:ext cx="6171900" cy="18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465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Riskli rota alternatif senaryo ile değiştirildi.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Operasyonel başarı olasılığı arttı.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Sistemik cascade etkisi azaldı.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1" marL="9144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>
                <a:latin typeface="Calibri"/>
                <a:ea typeface="Calibri"/>
                <a:cs typeface="Calibri"/>
                <a:sym typeface="Calibri"/>
              </a:rPr>
              <a:t>Müdahale etkileri ölçülebilir hale getirildi.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0695975" y="3161625"/>
            <a:ext cx="6512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 yalnızca risk üretmez; müdahale senaryolarını da değerlendirebilir.”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“Sistem yalnızca risk tespiti değil, operasyonel müdahale etkisini de simüle etmektedir.” </a:t>
            </a:r>
            <a:endParaRPr sz="2400"/>
          </a:p>
        </p:txBody>
      </p:sp>
      <p:pic>
        <p:nvPicPr>
          <p:cNvPr id="324" name="Google Shape;324;p17" title="indir (3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52125" y="5646850"/>
            <a:ext cx="11983800" cy="448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g3e10b41c960_0_164" title="indir (4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788" y="76200"/>
            <a:ext cx="17524413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6" title="indir (3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45500"/>
            <a:ext cx="18135600" cy="99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Google Shape;339;p18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40" name="Google Shape;340;p18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1" name="Google Shape;341;p18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2" name="Google Shape;342;p18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3" name="Google Shape;343;p18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4" name="Google Shape;344;p18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5" name="Google Shape;345;p18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6" name="Google Shape;346;p18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47" name="Google Shape;347;p18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48" name="Google Shape;348;p18"/>
          <p:cNvSpPr txBox="1"/>
          <p:nvPr/>
        </p:nvSpPr>
        <p:spPr>
          <a:xfrm>
            <a:off x="1572622" y="958294"/>
            <a:ext cx="151428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Zamansal ve Olasılıksal Dinamikler </a:t>
            </a:r>
            <a:endParaRPr/>
          </a:p>
        </p:txBody>
      </p:sp>
      <p:sp>
        <p:nvSpPr>
          <p:cNvPr id="349" name="Google Shape;349;p18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1299552" y="3184550"/>
            <a:ext cx="7383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şok seviyesi artırılarak sistem tepkisi ölçüldü.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Disruption ve D4 son-kilometre riski yükseldi.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Başarı olasılığı zaman içinde azaldı.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Olasılıksal belirsizlik Monte Carlo ile test edildi.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11325125" y="3683000"/>
            <a:ext cx="596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“Operasyonel istikrarsızlık statik değil; zaman içinde evrilen bir süreçtir.” </a:t>
            </a:r>
            <a:endParaRPr sz="2400"/>
          </a:p>
        </p:txBody>
      </p:sp>
      <p:pic>
        <p:nvPicPr>
          <p:cNvPr id="352" name="Google Shape;352;p18" title="indir (34).png"/>
          <p:cNvPicPr preferRelativeResize="0"/>
          <p:nvPr/>
        </p:nvPicPr>
        <p:blipFill rotWithShape="1">
          <a:blip r:embed="rId4">
            <a:alphaModFix/>
          </a:blip>
          <a:srcRect b="-3390" l="0" r="0" t="3390"/>
          <a:stretch/>
        </p:blipFill>
        <p:spPr>
          <a:xfrm>
            <a:off x="4433900" y="5910850"/>
            <a:ext cx="9420225" cy="371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e10b41c960_0_168" title="indir 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38" y="76200"/>
            <a:ext cx="17267728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g3e10b41c960_0_172" title="indir (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338" y="76200"/>
            <a:ext cx="15989323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0" title="indir (3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115" y="0"/>
            <a:ext cx="1724378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g3e10b41c960_0_97" title="indir (3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838" y="152400"/>
            <a:ext cx="16988337" cy="10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9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378" name="Google Shape;378;p19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79" name="Google Shape;379;p19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0" name="Google Shape;380;p19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1" name="Google Shape;381;p19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2" name="Google Shape;382;p19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3" name="Google Shape;383;p19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4" name="Google Shape;384;p19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85" name="Google Shape;385;p19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386" name="Google Shape;386;p19"/>
          <p:cNvSpPr txBox="1"/>
          <p:nvPr/>
        </p:nvSpPr>
        <p:spPr>
          <a:xfrm>
            <a:off x="1572594" y="664720"/>
            <a:ext cx="151428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RYPE Sistem Özeti </a:t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88" name="Google Shape;388;p19"/>
          <p:cNvSpPr txBox="1"/>
          <p:nvPr/>
        </p:nvSpPr>
        <p:spPr>
          <a:xfrm>
            <a:off x="1881551" y="2941425"/>
            <a:ext cx="5228100" cy="24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risk entegrasyonu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Nedensel operasyonel yeniden üretim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D1–D4 operasyonel yayılım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Sistemik cascade analizi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Counterfactual müdahale analizi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Zamansal ve olasılıksal din</a:t>
            </a: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mikler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9"/>
          <p:cNvSpPr txBox="1"/>
          <p:nvPr/>
        </p:nvSpPr>
        <p:spPr>
          <a:xfrm>
            <a:off x="9358975" y="2705475"/>
            <a:ext cx="7581600" cy="28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“RYPE, açıklanabilir operasyonel risk zekâsı için birleşik bir araştırma prototipi sunmaktadır.”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/>
              <a:t>“Bu noktada RYPE artık tek bir sınıflandırma modeli değil; jeopolitik riskten operasyonel yayılıma, oradan müdahale analizine uzanan birleşik bir açıklanabilir risk çerçevesidir.” </a:t>
            </a:r>
            <a:endParaRPr sz="2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g3e10b41c960_0_109" title="indir (3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38975"/>
            <a:ext cx="18135600" cy="9009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2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00" name="Google Shape;400;p23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1" name="Google Shape;401;p23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2" name="Google Shape;402;p23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3" name="Google Shape;403;p23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4" name="Google Shape;404;p2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5" name="Google Shape;405;p2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6" name="Google Shape;406;p2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07" name="Google Shape;407;p23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08" name="Google Shape;408;p23"/>
          <p:cNvSpPr txBox="1"/>
          <p:nvPr/>
        </p:nvSpPr>
        <p:spPr>
          <a:xfrm>
            <a:off x="2116544" y="958294"/>
            <a:ext cx="151428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Neden Bazı Metrikler Düşük Kaldı? </a:t>
            </a:r>
            <a:endParaRPr/>
          </a:p>
        </p:txBody>
      </p:sp>
      <p:sp>
        <p:nvSpPr>
          <p:cNvPr id="409" name="Google Shape;409;p23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410" name="Google Shape;410;p23"/>
          <p:cNvSpPr txBox="1"/>
          <p:nvPr/>
        </p:nvSpPr>
        <p:spPr>
          <a:xfrm>
            <a:off x="701827" y="3586688"/>
            <a:ext cx="98526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0936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Black-box skorlar operasyonel olarak grounded olmayabilir.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Latent aggregation yapıları operasyonel davranışı temsil etmeyebilir.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RYPE açıklanabilir operasyonel instability üretmeye odaklanmaktadır.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Amaç latent skoru kopyalamak değil, operasyonel davranışı modellemektir.</a:t>
            </a:r>
            <a:endParaRPr sz="36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3"/>
          <p:cNvSpPr txBox="1"/>
          <p:nvPr/>
        </p:nvSpPr>
        <p:spPr>
          <a:xfrm>
            <a:off x="865000" y="6180175"/>
            <a:ext cx="9217500" cy="19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“Düşük reconstruction başarımı, operasyonel yapının latent black-box skordan farklı çalıştığını göstermektedir.”</a:t>
            </a:r>
            <a:endParaRPr sz="2400">
              <a:solidFill>
                <a:schemeClr val="dk1"/>
              </a:solidFill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“Gerçek operasyonel log verileri ile propagation yapısı daha yüksek açıklayıcılık seviyesine ulaşabilir.” 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412" name="Google Shape;412;p23" title="indir (37).png"/>
          <p:cNvPicPr preferRelativeResize="0"/>
          <p:nvPr/>
        </p:nvPicPr>
        <p:blipFill rotWithShape="1">
          <a:blip r:embed="rId4">
            <a:alphaModFix/>
          </a:blip>
          <a:srcRect b="0" l="2630" r="-2630" t="0"/>
          <a:stretch/>
        </p:blipFill>
        <p:spPr>
          <a:xfrm>
            <a:off x="11221575" y="2869275"/>
            <a:ext cx="6572250" cy="60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1" title="indir (3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808000"/>
            <a:ext cx="18135601" cy="867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22" title="indir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41263"/>
            <a:ext cx="18135598" cy="9004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24" title="indir (4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550" y="4"/>
            <a:ext cx="1586489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30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33" name="Google Shape;433;p30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4" name="Google Shape;434;p30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5" name="Google Shape;435;p30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6" name="Google Shape;436;p30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7" name="Google Shape;437;p30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8" name="Google Shape;438;p30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39" name="Google Shape;439;p30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40" name="Google Shape;440;p30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41" name="Google Shape;441;p30"/>
          <p:cNvSpPr txBox="1"/>
          <p:nvPr/>
        </p:nvSpPr>
        <p:spPr>
          <a:xfrm>
            <a:off x="1572622" y="486419"/>
            <a:ext cx="15142800" cy="1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Robustness ve İstatistiksel Validasyon</a:t>
            </a:r>
            <a:r>
              <a:rPr lang="en-US" sz="79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42" name="Google Shape;442;p30"/>
          <p:cNvSpPr txBox="1"/>
          <p:nvPr/>
        </p:nvSpPr>
        <p:spPr>
          <a:xfrm>
            <a:off x="1428579" y="2366050"/>
            <a:ext cx="8402100" cy="18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Threshold optimization ile karar eşiği belirlendi.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indent="-37782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Cross-validation sonuçları performansın stabil olduğunu gösterdi.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indent="-37782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Noise stress test altında model kademeli bozulma gösterdi.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  <a:p>
            <a:pPr indent="-377825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2350"/>
              <a:buFont typeface="Calibri"/>
              <a:buChar char="●"/>
            </a:pPr>
            <a:r>
              <a:rPr lang="en-US" sz="2350">
                <a:latin typeface="Calibri"/>
                <a:ea typeface="Calibri"/>
                <a:cs typeface="Calibri"/>
                <a:sym typeface="Calibri"/>
              </a:rPr>
              <a:t>Monte Carlo analizi belirsizlik davranışını test etti.</a:t>
            </a:r>
            <a:endParaRPr sz="23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 txBox="1"/>
          <p:nvPr/>
        </p:nvSpPr>
        <p:spPr>
          <a:xfrm>
            <a:off x="11718350" y="2660050"/>
            <a:ext cx="4891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“Sistem farklı koşullar altında davranışsal tutarlılık göstermektedir.” </a:t>
            </a:r>
            <a:endParaRPr sz="2400"/>
          </a:p>
        </p:txBody>
      </p:sp>
      <p:pic>
        <p:nvPicPr>
          <p:cNvPr id="444" name="Google Shape;444;p30" title="indir (4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0500" y="4828925"/>
            <a:ext cx="14666998" cy="5133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g3e10b41c960_0_155" title="indir (4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263" y="115500"/>
            <a:ext cx="14617476" cy="1005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2"/>
          <p:cNvGrpSpPr/>
          <p:nvPr/>
        </p:nvGrpSpPr>
        <p:grpSpPr>
          <a:xfrm>
            <a:off x="-1600575" y="-123469"/>
            <a:ext cx="21489149" cy="10749338"/>
            <a:chOff x="0" y="0"/>
            <a:chExt cx="28652199" cy="14332450"/>
          </a:xfrm>
        </p:grpSpPr>
        <p:sp>
          <p:nvSpPr>
            <p:cNvPr id="455" name="Google Shape;455;p32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6" name="Google Shape;456;p32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7" name="Google Shape;457;p32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8" name="Google Shape;458;p32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59" name="Google Shape;459;p32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0" name="Google Shape;460;p32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1" name="Google Shape;461;p32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62" name="Google Shape;462;p32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63" name="Google Shape;463;p32"/>
          <p:cNvSpPr txBox="1"/>
          <p:nvPr/>
        </p:nvSpPr>
        <p:spPr>
          <a:xfrm>
            <a:off x="2700291" y="477740"/>
            <a:ext cx="128874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Temel Akademik Çıkarım </a:t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1698775" y="2495800"/>
            <a:ext cx="45615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RYPE şu özellikleri birleştirir: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Açıklanabilir yapı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Operasyonel yorumlanabilirlik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Müdahale odaklı analiz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Ağ temelli risk yayılımı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  <a:p>
            <a:pPr indent="-38093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9"/>
              <a:buFont typeface="Calibri"/>
              <a:buChar char="●"/>
            </a:pPr>
            <a:r>
              <a:rPr lang="en-US" sz="2399">
                <a:latin typeface="Calibri"/>
                <a:ea typeface="Calibri"/>
                <a:cs typeface="Calibri"/>
                <a:sym typeface="Calibri"/>
              </a:rPr>
              <a:t>Jeopolitik risk temellendirmesi</a:t>
            </a:r>
            <a:endParaRPr sz="239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8446650" y="2618500"/>
            <a:ext cx="8761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“Operasyonel istikrarsızlık, latent kara kutu skorlardan ziyade nedensel yayılım yapılarıyla daha anlamlı temsil edilebilir.”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çalışmanın temel sonucu, yüksek skor üretmekten çok, operasyonel riskin nasıl oluştuğunu ve yayıldığını açıklayabilmenin daha değerli olduğudur.” </a:t>
            </a:r>
            <a:endParaRPr sz="2400"/>
          </a:p>
        </p:txBody>
      </p:sp>
      <p:pic>
        <p:nvPicPr>
          <p:cNvPr id="466" name="Google Shape;466;p32" title="indir (42).png"/>
          <p:cNvPicPr preferRelativeResize="0"/>
          <p:nvPr/>
        </p:nvPicPr>
        <p:blipFill rotWithShape="1">
          <a:blip r:embed="rId4">
            <a:alphaModFix/>
          </a:blip>
          <a:srcRect b="22267" l="4275" r="4175" t="25218"/>
          <a:stretch/>
        </p:blipFill>
        <p:spPr>
          <a:xfrm>
            <a:off x="3591538" y="5671325"/>
            <a:ext cx="11104924" cy="42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" name="Google Shape;471;p3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72" name="Google Shape;472;p34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3" name="Google Shape;473;p34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4" name="Google Shape;474;p34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5" name="Google Shape;475;p34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6" name="Google Shape;476;p3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7" name="Google Shape;477;p3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8" name="Google Shape;478;p3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79" name="Google Shape;479;p34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480" name="Google Shape;480;p34"/>
          <p:cNvSpPr txBox="1"/>
          <p:nvPr/>
        </p:nvSpPr>
        <p:spPr>
          <a:xfrm>
            <a:off x="1350150" y="748375"/>
            <a:ext cx="155877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Limitasyonlar ve Gelecek Çalışmalar </a:t>
            </a:r>
            <a:endParaRPr/>
          </a:p>
        </p:txBody>
      </p:sp>
      <p:sp>
        <p:nvSpPr>
          <p:cNvPr id="481" name="Google Shape;481;p34"/>
          <p:cNvSpPr txBox="1"/>
          <p:nvPr/>
        </p:nvSpPr>
        <p:spPr>
          <a:xfrm>
            <a:off x="1724222" y="3212000"/>
            <a:ext cx="67695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Limitasyonlar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Sentetik operasyonel etiketler kullanıldı.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AIS shipment verileri bulunmuyor.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ERP operasyon logları entegre edilmedi.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Propagation katsayıları uzman tabanlı üretildi.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zamanlı veri akışı henüz yok.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11167850" y="2999600"/>
            <a:ext cx="55053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Gelecek Çalışmalar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AIS entegrasyonu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ERP shipment logları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Bayesian propagation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Graph neural propagation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Gerçek zamanlı erken uyarı sistemi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Canlı liman yoğunluk analizi</a:t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2805000" y="7156850"/>
            <a:ext cx="12678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“RYPE, gerçek zamanlı açıklanabilir operasyonel risk zekâsına doğru genişletilebilir bir araştırma prototipi sunmaktadır.”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“Bu çalışma tam ölçekli endüstriyel ürün değil; açıklanabilir operasyonel risk zekâsı için araştırma prototipi olarak tasarlanmıştır.” </a:t>
            </a:r>
            <a:endParaRPr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5"/>
          <p:cNvSpPr txBox="1"/>
          <p:nvPr/>
        </p:nvSpPr>
        <p:spPr>
          <a:xfrm>
            <a:off x="411934" y="350281"/>
            <a:ext cx="1939447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pic>
        <p:nvPicPr>
          <p:cNvPr id="489" name="Google Shape;489;p25" title="indir (4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01125"/>
            <a:ext cx="18288001" cy="9084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43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495" name="Google Shape;495;p43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6" name="Google Shape;496;p43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7" name="Google Shape;497;p43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8" name="Google Shape;498;p43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499" name="Google Shape;499;p43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0" name="Google Shape;500;p43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1" name="Google Shape;501;p43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02" name="Google Shape;502;p43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503" name="Google Shape;503;p43"/>
          <p:cNvGrpSpPr/>
          <p:nvPr/>
        </p:nvGrpSpPr>
        <p:grpSpPr>
          <a:xfrm>
            <a:off x="-2189865" y="3581559"/>
            <a:ext cx="8730673" cy="2834559"/>
            <a:chOff x="0" y="-76200"/>
            <a:chExt cx="2299437" cy="746551"/>
          </a:xfrm>
        </p:grpSpPr>
        <p:sp>
          <p:nvSpPr>
            <p:cNvPr id="504" name="Google Shape;504;p43"/>
            <p:cNvSpPr/>
            <p:nvPr/>
          </p:nvSpPr>
          <p:spPr>
            <a:xfrm>
              <a:off x="0" y="0"/>
              <a:ext cx="2299437" cy="670351"/>
            </a:xfrm>
            <a:custGeom>
              <a:rect b="b" l="l" r="r" t="t"/>
              <a:pathLst>
                <a:path extrusionOk="0" h="670351" w="2299437">
                  <a:moveTo>
                    <a:pt x="0" y="0"/>
                  </a:moveTo>
                  <a:lnTo>
                    <a:pt x="2299437" y="0"/>
                  </a:lnTo>
                  <a:lnTo>
                    <a:pt x="2299437" y="670351"/>
                  </a:lnTo>
                  <a:lnTo>
                    <a:pt x="0" y="670351"/>
                  </a:lnTo>
                  <a:close/>
                </a:path>
              </a:pathLst>
            </a:custGeom>
            <a:solidFill>
              <a:srgbClr val="004AAD"/>
            </a:solidFill>
            <a:ln>
              <a:noFill/>
            </a:ln>
          </p:spPr>
        </p:sp>
        <p:sp>
          <p:nvSpPr>
            <p:cNvPr id="505" name="Google Shape;505;p43"/>
            <p:cNvSpPr txBox="1"/>
            <p:nvPr/>
          </p:nvSpPr>
          <p:spPr>
            <a:xfrm>
              <a:off x="0" y="-76200"/>
              <a:ext cx="2299437" cy="746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5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43"/>
          <p:cNvSpPr txBox="1"/>
          <p:nvPr/>
        </p:nvSpPr>
        <p:spPr>
          <a:xfrm>
            <a:off x="983739" y="4199953"/>
            <a:ext cx="5557069" cy="1530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KAYNAKÇA</a:t>
            </a:r>
            <a:endParaRPr/>
          </a:p>
        </p:txBody>
      </p:sp>
      <p:sp>
        <p:nvSpPr>
          <p:cNvPr id="507" name="Google Shape;507;p43"/>
          <p:cNvSpPr txBox="1"/>
          <p:nvPr/>
        </p:nvSpPr>
        <p:spPr>
          <a:xfrm>
            <a:off x="8705484" y="627125"/>
            <a:ext cx="8964900" cy="9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Ivanov, D. (2020). Predicting the impacts of epidemic outbreaks on global supply chains: A simulation-based analysis on the coronavirus outbreak. Transportation Research Part E, 136, 101922.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Ivanov, D., &amp; Dolgui, A. (2021). OR-methods for coping with the ripple effect in supply chains during COVID-19 pandemic. International Journal of Production Research, 59(1), 157–168.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Tang, C. S. (2006). Perspectives in supply chain risk management. International Journal of Production Economics, 103(2), 451–488.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Christopher, M., &amp; Peck, H. (2004). Building the resilient supply chain. International Journal of Logistics Management, 15(2), 1–14.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Lundberg, S. M., &amp; Lee, S. I. (2017). A unified approach to interpreting model predictions. Advances in Neural Information Processing Systems.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Ribeiro, M. T., Singh, S., &amp; Guestrin, C. (2016). “Why should I trust you?” Explaining the predictions of any classifier. ACM SIGKDD.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Doshi-Velez, F., &amp; Kim, B. (2017). Towards a rigorous science of interpretable machine learning.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Barabási, A. L. (2016). Network Science. Cambridge University Press.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Watts, D. J., &amp; Strogatz, S. H. (1998). Collective dynamics of ‘small-world’ networks. Nature, 393(6684), 440–442.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Caldara, D., &amp; Iacoviello, M. (2022). Measuring geopolitical risk. American Economic Review.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Taleb, N. N. (2012). Antifragile: Things That Gain from Disorder. Random House.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Chopra, S., &amp; Sodhi, M. (2004). Managing risk to avoid supply-chain breakdown. MIT Sloan Management Review, 46(1), 53–61.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Sheffi, Y. (2005). The resilient enterprise: Overcoming vulnerability for competitive advantage. MIT Press.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Snyder, L. V., &amp; Shen, Z. J. M. (2019). Fundamentals of Supply Chain Theory. Wiley.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Goodfellow, I., Bengio, Y., &amp; Courville, A. (2016). Deep Learning. MIT Press.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Pearl, J. (2009). Causality: Models, reasoning, and inference. Cambridge University Press.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Murphy, K. P. (2012). Machine Learning: A Probabilistic Perspective. MIT Press.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ACLED (Armed Conflict Location &amp; Event Data Project). https://acleddata.com/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-US" sz="1600">
                <a:solidFill>
                  <a:schemeClr val="dk1"/>
                </a:solidFill>
              </a:rPr>
              <a:t>World Bank Worldwide Governance Indicators (WGI). https://info.worldbank.org/governance/wgi/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884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United Nations UN/LOCODE Database. https://unece.org/trade/uncefact/unlocode-code-list-country-and-territory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900">
              <a:uFill>
                <a:noFill/>
              </a:uFill>
              <a:latin typeface="Calibri"/>
              <a:ea typeface="Calibri"/>
              <a:cs typeface="Calibri"/>
              <a:sym typeface="Calibri"/>
              <a:hlinkClick r:id="rId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44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513" name="Google Shape;513;p44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4" name="Google Shape;514;p44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5" name="Google Shape;515;p44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6" name="Google Shape;516;p44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7" name="Google Shape;517;p44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8" name="Google Shape;518;p44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19" name="Google Shape;519;p44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20" name="Google Shape;520;p44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21" name="Google Shape;521;p44"/>
          <p:cNvSpPr/>
          <p:nvPr/>
        </p:nvSpPr>
        <p:spPr>
          <a:xfrm flipH="1">
            <a:off x="0" y="8618398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2" name="Google Shape;522;p44"/>
          <p:cNvSpPr/>
          <p:nvPr/>
        </p:nvSpPr>
        <p:spPr>
          <a:xfrm flipH="1" rot="10800000">
            <a:off x="13114040" y="0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23" name="Google Shape;523;p44"/>
          <p:cNvSpPr txBox="1"/>
          <p:nvPr/>
        </p:nvSpPr>
        <p:spPr>
          <a:xfrm>
            <a:off x="2586980" y="3403613"/>
            <a:ext cx="131139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4800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İstatistiği bir araç olarak kullananlar ile onu bir kalkan olarak kullananlar arasındaki fark, sonuçta tek bir soruya verilen yanıtta saklıdır: Analiz bittikten sonra belirsizlik hâlâ oradaysa ne yaparsın?</a:t>
            </a:r>
            <a:r>
              <a:rPr b="0" i="0" lang="en-US" sz="4800" u="none" cap="none" strike="noStrik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4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8" name="Google Shape;528;p45"/>
          <p:cNvGrpSpPr/>
          <p:nvPr/>
        </p:nvGrpSpPr>
        <p:grpSpPr>
          <a:xfrm>
            <a:off x="-1600575" y="-231169"/>
            <a:ext cx="21489149" cy="10749338"/>
            <a:chOff x="0" y="0"/>
            <a:chExt cx="28652199" cy="14332450"/>
          </a:xfrm>
        </p:grpSpPr>
        <p:sp>
          <p:nvSpPr>
            <p:cNvPr id="529" name="Google Shape;529;p45"/>
            <p:cNvSpPr/>
            <p:nvPr/>
          </p:nvSpPr>
          <p:spPr>
            <a:xfrm>
              <a:off x="0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0" name="Google Shape;530;p45"/>
            <p:cNvSpPr/>
            <p:nvPr/>
          </p:nvSpPr>
          <p:spPr>
            <a:xfrm flipH="1" rot="10800000">
              <a:off x="7153525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4" y="7166225"/>
                  </a:lnTo>
                  <a:lnTo>
                    <a:pt x="7166224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1" name="Google Shape;531;p45"/>
            <p:cNvSpPr/>
            <p:nvPr/>
          </p:nvSpPr>
          <p:spPr>
            <a:xfrm>
              <a:off x="14319749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5"/>
                  </a:lnTo>
                  <a:lnTo>
                    <a:pt x="0" y="71662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2" name="Google Shape;532;p45"/>
            <p:cNvSpPr/>
            <p:nvPr/>
          </p:nvSpPr>
          <p:spPr>
            <a:xfrm flipH="1" rot="10800000">
              <a:off x="21485974" y="0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5"/>
                  </a:moveTo>
                  <a:lnTo>
                    <a:pt x="7166225" y="7166225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5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3" name="Google Shape;533;p45"/>
            <p:cNvSpPr/>
            <p:nvPr/>
          </p:nvSpPr>
          <p:spPr>
            <a:xfrm rot="10800000">
              <a:off x="21485974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5" y="0"/>
                  </a:lnTo>
                  <a:lnTo>
                    <a:pt x="7166225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4" name="Google Shape;534;p45"/>
            <p:cNvSpPr/>
            <p:nvPr/>
          </p:nvSpPr>
          <p:spPr>
            <a:xfrm flipH="1">
              <a:off x="14332449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5" name="Google Shape;535;p45"/>
            <p:cNvSpPr/>
            <p:nvPr/>
          </p:nvSpPr>
          <p:spPr>
            <a:xfrm rot="10800000">
              <a:off x="7166225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0"/>
                  </a:moveTo>
                  <a:lnTo>
                    <a:pt x="7166224" y="0"/>
                  </a:lnTo>
                  <a:lnTo>
                    <a:pt x="7166224" y="7166224"/>
                  </a:lnTo>
                  <a:lnTo>
                    <a:pt x="0" y="716622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536" name="Google Shape;536;p45"/>
            <p:cNvSpPr/>
            <p:nvPr/>
          </p:nvSpPr>
          <p:spPr>
            <a:xfrm flipH="1">
              <a:off x="0" y="7166225"/>
              <a:ext cx="7166225" cy="7166225"/>
            </a:xfrm>
            <a:custGeom>
              <a:rect b="b" l="l" r="r" t="t"/>
              <a:pathLst>
                <a:path extrusionOk="0" h="7166225" w="7166225">
                  <a:moveTo>
                    <a:pt x="0" y="7166224"/>
                  </a:moveTo>
                  <a:lnTo>
                    <a:pt x="7166225" y="7166224"/>
                  </a:lnTo>
                  <a:lnTo>
                    <a:pt x="7166225" y="0"/>
                  </a:lnTo>
                  <a:lnTo>
                    <a:pt x="0" y="0"/>
                  </a:lnTo>
                  <a:lnTo>
                    <a:pt x="0" y="7166224"/>
                  </a:lnTo>
                  <a:close/>
                </a:path>
              </a:pathLst>
            </a:custGeom>
            <a:blipFill rotWithShape="1">
              <a:blip r:embed="rId3">
                <a:alphaModFix amt="9999"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537" name="Google Shape;537;p45"/>
          <p:cNvSpPr/>
          <p:nvPr/>
        </p:nvSpPr>
        <p:spPr>
          <a:xfrm flipH="1">
            <a:off x="0" y="8618398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5173960" y="0"/>
                </a:moveTo>
                <a:lnTo>
                  <a:pt x="0" y="0"/>
                </a:lnTo>
                <a:lnTo>
                  <a:pt x="0" y="1668602"/>
                </a:lnTo>
                <a:lnTo>
                  <a:pt x="5173960" y="1668602"/>
                </a:lnTo>
                <a:lnTo>
                  <a:pt x="517396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8" name="Google Shape;538;p45"/>
          <p:cNvSpPr/>
          <p:nvPr/>
        </p:nvSpPr>
        <p:spPr>
          <a:xfrm flipH="1" rot="10800000">
            <a:off x="13114040" y="0"/>
            <a:ext cx="5173960" cy="1668602"/>
          </a:xfrm>
          <a:custGeom>
            <a:rect b="b" l="l" r="r" t="t"/>
            <a:pathLst>
              <a:path extrusionOk="0" h="1668602" w="5173960">
                <a:moveTo>
                  <a:pt x="0" y="1668602"/>
                </a:moveTo>
                <a:lnTo>
                  <a:pt x="5173960" y="1668602"/>
                </a:lnTo>
                <a:lnTo>
                  <a:pt x="5173960" y="0"/>
                </a:lnTo>
                <a:lnTo>
                  <a:pt x="0" y="0"/>
                </a:lnTo>
                <a:lnTo>
                  <a:pt x="0" y="166860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9" name="Google Shape;539;p45"/>
          <p:cNvSpPr/>
          <p:nvPr/>
        </p:nvSpPr>
        <p:spPr>
          <a:xfrm>
            <a:off x="8322544" y="1512498"/>
            <a:ext cx="1642912" cy="1642912"/>
          </a:xfrm>
          <a:custGeom>
            <a:rect b="b" l="l" r="r" t="t"/>
            <a:pathLst>
              <a:path extrusionOk="0" h="1642912" w="1642912">
                <a:moveTo>
                  <a:pt x="0" y="0"/>
                </a:moveTo>
                <a:lnTo>
                  <a:pt x="1642912" y="0"/>
                </a:lnTo>
                <a:lnTo>
                  <a:pt x="1642912" y="1642912"/>
                </a:lnTo>
                <a:lnTo>
                  <a:pt x="0" y="1642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0" name="Google Shape;540;p45"/>
          <p:cNvSpPr/>
          <p:nvPr/>
        </p:nvSpPr>
        <p:spPr>
          <a:xfrm>
            <a:off x="16825449" y="8824795"/>
            <a:ext cx="867703" cy="867011"/>
          </a:xfrm>
          <a:custGeom>
            <a:rect b="b" l="l" r="r" t="t"/>
            <a:pathLst>
              <a:path extrusionOk="0" h="867011" w="867703">
                <a:moveTo>
                  <a:pt x="0" y="0"/>
                </a:moveTo>
                <a:lnTo>
                  <a:pt x="867702" y="0"/>
                </a:lnTo>
                <a:lnTo>
                  <a:pt x="867702" y="867010"/>
                </a:lnTo>
                <a:lnTo>
                  <a:pt x="0" y="86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17177" t="0"/>
            </a:stretch>
          </a:blipFill>
          <a:ln>
            <a:noFill/>
          </a:ln>
        </p:spPr>
      </p:sp>
      <p:sp>
        <p:nvSpPr>
          <p:cNvPr id="541" name="Google Shape;541;p45"/>
          <p:cNvSpPr txBox="1"/>
          <p:nvPr/>
        </p:nvSpPr>
        <p:spPr>
          <a:xfrm>
            <a:off x="2586980" y="3687763"/>
            <a:ext cx="13114040" cy="2406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0" u="none" cap="none" strike="noStrike">
                <a:solidFill>
                  <a:srgbClr val="004AAD"/>
                </a:solidFill>
                <a:latin typeface="Calibri"/>
                <a:ea typeface="Calibri"/>
                <a:cs typeface="Calibri"/>
                <a:sym typeface="Calibri"/>
              </a:rPr>
              <a:t>TEŞEKKÜRLER</a:t>
            </a:r>
            <a:endParaRPr/>
          </a:p>
        </p:txBody>
      </p:sp>
      <p:sp>
        <p:nvSpPr>
          <p:cNvPr id="542" name="Google Shape;542;p45"/>
          <p:cNvSpPr txBox="1"/>
          <p:nvPr/>
        </p:nvSpPr>
        <p:spPr>
          <a:xfrm>
            <a:off x="4082669" y="5903912"/>
            <a:ext cx="10122662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mericozcan.com</a:t>
            </a:r>
            <a:endParaRPr/>
          </a:p>
        </p:txBody>
      </p:sp>
      <p:sp>
        <p:nvSpPr>
          <p:cNvPr id="543" name="Google Shape;543;p45"/>
          <p:cNvSpPr txBox="1"/>
          <p:nvPr/>
        </p:nvSpPr>
        <p:spPr>
          <a:xfrm>
            <a:off x="7688749" y="3374485"/>
            <a:ext cx="2910501" cy="48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Ege University</a:t>
            </a:r>
            <a:endParaRPr/>
          </a:p>
        </p:txBody>
      </p:sp>
      <p:sp>
        <p:nvSpPr>
          <p:cNvPr id="544" name="Google Shape;544;p45"/>
          <p:cNvSpPr txBox="1"/>
          <p:nvPr/>
        </p:nvSpPr>
        <p:spPr>
          <a:xfrm>
            <a:off x="8871350" y="8815500"/>
            <a:ext cx="7756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linkedin.com/in/meriç-özcan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